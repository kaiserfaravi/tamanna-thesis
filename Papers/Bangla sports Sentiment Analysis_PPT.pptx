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85" r:id="rId9"/>
    <p:sldId id="284" r:id="rId10"/>
    <p:sldId id="264" r:id="rId11"/>
    <p:sldId id="265" r:id="rId12"/>
    <p:sldId id="266" r:id="rId13"/>
    <p:sldId id="278" r:id="rId14"/>
    <p:sldId id="279" r:id="rId15"/>
    <p:sldId id="283"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hhGJNwI5dMWKjmD+rgJX3BmTyCc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12B2C4A-2641-410F-86F1-3BD795578828}">
  <a:tblStyle styleId="{A12B2C4A-2641-410F-86F1-3BD795578828}"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D493F7C-4662-40E6-8E52-79C8E3800DC9}"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83007" autoAdjust="0"/>
  </p:normalViewPr>
  <p:slideViewPr>
    <p:cSldViewPr snapToGrid="0">
      <p:cViewPr varScale="1">
        <p:scale>
          <a:sx n="68" d="100"/>
          <a:sy n="68" d="100"/>
        </p:scale>
        <p:origin x="1238" y="67"/>
      </p:cViewPr>
      <p:guideLst>
        <p:guide orient="horz" pos="2160"/>
        <p:guide pos="3840"/>
      </p:guideLst>
    </p:cSldViewPr>
  </p:slideViewPr>
  <p:outlineViewPr>
    <p:cViewPr>
      <p:scale>
        <a:sx n="33" d="100"/>
        <a:sy n="33" d="100"/>
      </p:scale>
      <p:origin x="0" y="-6378"/>
    </p:cViewPr>
  </p:outlineViewPr>
  <p:notesTextViewPr>
    <p:cViewPr>
      <p:scale>
        <a:sx n="1" d="1"/>
        <a:sy n="1" d="1"/>
      </p:scale>
      <p:origin x="0" y="0"/>
    </p:cViewPr>
  </p:notesTextViewPr>
  <p:sorterViewPr>
    <p:cViewPr>
      <p:scale>
        <a:sx n="100" d="100"/>
        <a:sy n="100" d="100"/>
      </p:scale>
      <p:origin x="0" y="-250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9"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36"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004107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0236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6" name="Google Shape;19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3" name="Google Shape;36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5"/>
        <p:cNvGrpSpPr/>
        <p:nvPr/>
      </p:nvGrpSpPr>
      <p:grpSpPr>
        <a:xfrm>
          <a:off x="0" y="0"/>
          <a:ext cx="0" cy="0"/>
          <a:chOff x="0" y="0"/>
          <a:chExt cx="0" cy="0"/>
        </a:xfrm>
      </p:grpSpPr>
      <p:sp>
        <p:nvSpPr>
          <p:cNvPr id="16" name="Google Shape;16;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3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8"/>
        <p:cNvGrpSpPr/>
        <p:nvPr/>
      </p:nvGrpSpPr>
      <p:grpSpPr>
        <a:xfrm>
          <a:off x="0" y="0"/>
          <a:ext cx="0" cy="0"/>
          <a:chOff x="0" y="0"/>
          <a:chExt cx="0" cy="0"/>
        </a:xfrm>
      </p:grpSpPr>
      <p:sp>
        <p:nvSpPr>
          <p:cNvPr id="29" name="Google Shape;29;p3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3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1" name="Google Shape;3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3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7" name="Google Shape;37;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8"/>
          <p:cNvSpPr>
            <a:spLocks noGrp="1"/>
          </p:cNvSpPr>
          <p:nvPr>
            <p:ph type="pic" idx="2"/>
          </p:nvPr>
        </p:nvSpPr>
        <p:spPr>
          <a:xfrm>
            <a:off x="5183188" y="987425"/>
            <a:ext cx="6172200" cy="4873625"/>
          </a:xfrm>
          <a:prstGeom prst="rect">
            <a:avLst/>
          </a:prstGeom>
          <a:noFill/>
          <a:ln>
            <a:noFill/>
          </a:ln>
        </p:spPr>
      </p:sp>
      <p:sp>
        <p:nvSpPr>
          <p:cNvPr id="68" name="Google Shape;68;p3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a:spLocks noGrp="1"/>
          </p:cNvSpPr>
          <p:nvPr>
            <p:ph type="title"/>
          </p:nvPr>
        </p:nvSpPr>
        <p:spPr>
          <a:xfrm>
            <a:off x="838200" y="261082"/>
            <a:ext cx="10515600" cy="1325563"/>
          </a:xfrm>
          <a:prstGeom prst="rect">
            <a:avLst/>
          </a:prstGeom>
          <a:noFill/>
          <a:ln>
            <a:noFill/>
          </a:ln>
        </p:spPr>
        <p:txBody>
          <a:bodyPr spcFirstLastPara="1" wrap="square" lIns="91425" tIns="45700" rIns="91425" bIns="45700" anchor="ctr" anchorCtr="0">
            <a:normAutofit/>
          </a:bodyPr>
          <a:lstStyle/>
          <a:p>
            <a:pPr lvl="0" algn="ctr">
              <a:buSzPts val="3000"/>
            </a:pPr>
            <a:r>
              <a:rPr lang="en-US" sz="3000" b="1" dirty="0">
                <a:latin typeface="Times New Roman"/>
                <a:ea typeface="Times New Roman"/>
                <a:cs typeface="Times New Roman"/>
                <a:sym typeface="Times New Roman"/>
              </a:rPr>
              <a:t>Sports Sentiment Analysis using Machine Learning and Deep Learning techniques for Bangla Text</a:t>
            </a:r>
          </a:p>
        </p:txBody>
      </p:sp>
      <p:pic>
        <p:nvPicPr>
          <p:cNvPr id="92" name="Google Shape;92;p1"/>
          <p:cNvPicPr preferRelativeResize="0"/>
          <p:nvPr/>
        </p:nvPicPr>
        <p:blipFill rotWithShape="1">
          <a:blip r:embed="rId3">
            <a:alphaModFix/>
          </a:blip>
          <a:srcRect/>
          <a:stretch/>
        </p:blipFill>
        <p:spPr>
          <a:xfrm>
            <a:off x="5684510" y="4693382"/>
            <a:ext cx="1231456" cy="1380316"/>
          </a:xfrm>
          <a:prstGeom prst="rect">
            <a:avLst/>
          </a:prstGeom>
          <a:noFill/>
          <a:ln>
            <a:noFill/>
          </a:ln>
        </p:spPr>
      </p:pic>
      <p:sp>
        <p:nvSpPr>
          <p:cNvPr id="93" name="Google Shape;93;p1"/>
          <p:cNvSpPr txBox="1"/>
          <p:nvPr/>
        </p:nvSpPr>
        <p:spPr>
          <a:xfrm>
            <a:off x="2388158" y="6073698"/>
            <a:ext cx="7824159"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dirty="0">
                <a:solidFill>
                  <a:schemeClr val="dk1"/>
                </a:solidFill>
                <a:latin typeface="Times New Roman"/>
                <a:ea typeface="Times New Roman"/>
                <a:cs typeface="Times New Roman"/>
                <a:sym typeface="Times New Roman"/>
              </a:rPr>
              <a:t>Port City International University</a:t>
            </a:r>
            <a:endParaRPr sz="2800" b="0" i="0" u="none" strike="noStrike" cap="none" dirty="0">
              <a:solidFill>
                <a:schemeClr val="dk1"/>
              </a:solidFill>
              <a:latin typeface="Times New Roman"/>
              <a:ea typeface="Times New Roman"/>
              <a:cs typeface="Times New Roman"/>
              <a:sym typeface="Times New Roman"/>
            </a:endParaRPr>
          </a:p>
        </p:txBody>
      </p:sp>
      <p:graphicFrame>
        <p:nvGraphicFramePr>
          <p:cNvPr id="4" name="Table 3">
            <a:extLst>
              <a:ext uri="{FF2B5EF4-FFF2-40B4-BE49-F238E27FC236}">
                <a16:creationId xmlns:a16="http://schemas.microsoft.com/office/drawing/2014/main" id="{FA7EB3CF-3B87-410C-9F8F-5212C0F4BD53}"/>
              </a:ext>
            </a:extLst>
          </p:cNvPr>
          <p:cNvGraphicFramePr>
            <a:graphicFrameLocks noGrp="1"/>
          </p:cNvGraphicFramePr>
          <p:nvPr>
            <p:extLst>
              <p:ext uri="{D42A27DB-BD31-4B8C-83A1-F6EECF244321}">
                <p14:modId xmlns:p14="http://schemas.microsoft.com/office/powerpoint/2010/main" val="2471288278"/>
              </p:ext>
            </p:extLst>
          </p:nvPr>
        </p:nvGraphicFramePr>
        <p:xfrm>
          <a:off x="549038" y="2281783"/>
          <a:ext cx="5714110" cy="2157482"/>
        </p:xfrm>
        <a:graphic>
          <a:graphicData uri="http://schemas.openxmlformats.org/drawingml/2006/table">
            <a:tbl>
              <a:tblPr firstRow="1" bandRow="1">
                <a:tableStyleId>{A12B2C4A-2641-410F-86F1-3BD795578828}</a:tableStyleId>
              </a:tblPr>
              <a:tblGrid>
                <a:gridCol w="2857055">
                  <a:extLst>
                    <a:ext uri="{9D8B030D-6E8A-4147-A177-3AD203B41FA5}">
                      <a16:colId xmlns:a16="http://schemas.microsoft.com/office/drawing/2014/main" val="1323832639"/>
                    </a:ext>
                  </a:extLst>
                </a:gridCol>
                <a:gridCol w="2857055">
                  <a:extLst>
                    <a:ext uri="{9D8B030D-6E8A-4147-A177-3AD203B41FA5}">
                      <a16:colId xmlns:a16="http://schemas.microsoft.com/office/drawing/2014/main" val="3682606977"/>
                    </a:ext>
                  </a:extLst>
                </a:gridCol>
              </a:tblGrid>
              <a:tr h="684503">
                <a:tc gridSpan="2">
                  <a:txBody>
                    <a:bodyPr/>
                    <a:lstStyle/>
                    <a:p>
                      <a:pPr algn="ctr"/>
                      <a:r>
                        <a:rPr lang="en-US" sz="2000" b="1" dirty="0">
                          <a:latin typeface="Times New Roman" panose="02020603050405020304" pitchFamily="18" charset="0"/>
                          <a:cs typeface="Times New Roman" panose="02020603050405020304" pitchFamily="18" charset="0"/>
                        </a:rPr>
                        <a:t>Under the supervision 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726883"/>
                  </a:ext>
                </a:extLst>
              </a:tr>
              <a:tr h="40617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b="1" u="sng" dirty="0">
                          <a:latin typeface="Times New Roman" panose="02020603050405020304" pitchFamily="18" charset="0"/>
                          <a:ea typeface="Times New Roman"/>
                          <a:cs typeface="Times New Roman" panose="02020603050405020304" pitchFamily="18" charset="0"/>
                          <a:sym typeface="Times New Roman"/>
                        </a:rPr>
                        <a:t>Supervisor</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b="1" u="sng" dirty="0">
                          <a:latin typeface="Times New Roman" panose="02020603050405020304" pitchFamily="18" charset="0"/>
                          <a:cs typeface="Times New Roman" panose="02020603050405020304" pitchFamily="18" charset="0"/>
                        </a:rPr>
                        <a:t>Joint supervisor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9466705"/>
                  </a:ext>
                </a:extLst>
              </a:tr>
              <a:tr h="64062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ea typeface="Times New Roman"/>
                          <a:cs typeface="Times New Roman" panose="02020603050405020304" pitchFamily="18" charset="0"/>
                          <a:sym typeface="Times New Roman"/>
                        </a:rPr>
                        <a:t>Mr. </a:t>
                      </a:r>
                      <a:r>
                        <a:rPr lang="en-US" sz="1600" dirty="0" err="1">
                          <a:latin typeface="Times New Roman" panose="02020603050405020304" pitchFamily="18" charset="0"/>
                          <a:ea typeface="Times New Roman"/>
                          <a:cs typeface="Times New Roman" panose="02020603050405020304" pitchFamily="18" charset="0"/>
                          <a:sym typeface="Times New Roman"/>
                        </a:rPr>
                        <a:t>Sowmitra</a:t>
                      </a:r>
                      <a:r>
                        <a:rPr lang="en-US" sz="1600" dirty="0">
                          <a:latin typeface="Times New Roman" panose="02020603050405020304" pitchFamily="18" charset="0"/>
                          <a:ea typeface="Times New Roman"/>
                          <a:cs typeface="Times New Roman" panose="02020603050405020304" pitchFamily="18" charset="0"/>
                          <a:sym typeface="Times New Roman"/>
                        </a:rPr>
                        <a:t> Das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baseline="0" dirty="0">
                          <a:latin typeface="Times New Roman" panose="02020603050405020304" pitchFamily="18" charset="0"/>
                          <a:ea typeface="Times New Roman"/>
                          <a:cs typeface="Times New Roman" panose="02020603050405020304" pitchFamily="18" charset="0"/>
                          <a:sym typeface="Times New Roman"/>
                        </a:rPr>
                        <a:t>Assistant Professor </a:t>
                      </a:r>
                      <a:endParaRPr lang="en-US" sz="1600" baseline="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ea typeface="Times New Roman"/>
                          <a:cs typeface="Times New Roman" panose="02020603050405020304" pitchFamily="18" charset="0"/>
                          <a:sym typeface="Times New Roman"/>
                        </a:rPr>
                        <a:t>Dept. of CSE,PCIU</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Mrs. </a:t>
                      </a:r>
                      <a:r>
                        <a:rPr lang="en-US" sz="1600" dirty="0" err="1">
                          <a:latin typeface="Times New Roman" panose="02020603050405020304" pitchFamily="18" charset="0"/>
                          <a:cs typeface="Times New Roman" panose="02020603050405020304" pitchFamily="18" charset="0"/>
                        </a:rPr>
                        <a:t>Manoara</a:t>
                      </a:r>
                      <a:r>
                        <a:rPr lang="en-US" sz="1600" dirty="0">
                          <a:latin typeface="Times New Roman" panose="02020603050405020304" pitchFamily="18" charset="0"/>
                          <a:cs typeface="Times New Roman" panose="02020603050405020304" pitchFamily="18" charset="0"/>
                        </a:rPr>
                        <a:t> Begum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Assistant Professor</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Dept. of CSE,PCIU</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600" b="1" u="sng"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7912959"/>
                  </a:ext>
                </a:extLst>
              </a:tr>
            </a:tbl>
          </a:graphicData>
        </a:graphic>
      </p:graphicFrame>
      <p:graphicFrame>
        <p:nvGraphicFramePr>
          <p:cNvPr id="6" name="Table 5">
            <a:extLst>
              <a:ext uri="{FF2B5EF4-FFF2-40B4-BE49-F238E27FC236}">
                <a16:creationId xmlns:a16="http://schemas.microsoft.com/office/drawing/2014/main" id="{E0B45E2B-78E2-B522-5F29-D6031830FAF5}"/>
              </a:ext>
            </a:extLst>
          </p:cNvPr>
          <p:cNvGraphicFramePr>
            <a:graphicFrameLocks noGrp="1"/>
          </p:cNvGraphicFramePr>
          <p:nvPr>
            <p:extLst>
              <p:ext uri="{D42A27DB-BD31-4B8C-83A1-F6EECF244321}">
                <p14:modId xmlns:p14="http://schemas.microsoft.com/office/powerpoint/2010/main" val="3548594744"/>
              </p:ext>
            </p:extLst>
          </p:nvPr>
        </p:nvGraphicFramePr>
        <p:xfrm>
          <a:off x="6617109" y="2281783"/>
          <a:ext cx="4090219" cy="1987945"/>
        </p:xfrm>
        <a:graphic>
          <a:graphicData uri="http://schemas.openxmlformats.org/drawingml/2006/table">
            <a:tbl>
              <a:tblPr firstRow="1" bandRow="1">
                <a:tableStyleId>{A12B2C4A-2641-410F-86F1-3BD795578828}</a:tableStyleId>
              </a:tblPr>
              <a:tblGrid>
                <a:gridCol w="4090219">
                  <a:extLst>
                    <a:ext uri="{9D8B030D-6E8A-4147-A177-3AD203B41FA5}">
                      <a16:colId xmlns:a16="http://schemas.microsoft.com/office/drawing/2014/main" val="3682606977"/>
                    </a:ext>
                  </a:extLst>
                </a:gridCol>
              </a:tblGrid>
              <a:tr h="63839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latin typeface="Times New Roman" panose="02020603050405020304" pitchFamily="18" charset="0"/>
                          <a:cs typeface="Times New Roman" panose="02020603050405020304" pitchFamily="18" charset="0"/>
                        </a:rPr>
                        <a:t>Presented By:</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726883"/>
                  </a:ext>
                </a:extLst>
              </a:tr>
              <a:tr h="134954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Mrs. </a:t>
                      </a:r>
                      <a:r>
                        <a:rPr lang="en-US" sz="1600" dirty="0" err="1">
                          <a:latin typeface="Times New Roman" panose="02020603050405020304" pitchFamily="18" charset="0"/>
                          <a:cs typeface="Times New Roman" panose="02020603050405020304" pitchFamily="18" charset="0"/>
                        </a:rPr>
                        <a:t>Manoara</a:t>
                      </a:r>
                      <a:r>
                        <a:rPr lang="en-US" sz="1600" dirty="0">
                          <a:latin typeface="Times New Roman" panose="02020603050405020304" pitchFamily="18" charset="0"/>
                          <a:cs typeface="Times New Roman" panose="02020603050405020304" pitchFamily="18" charset="0"/>
                        </a:rPr>
                        <a:t> Begum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Assistant Professor</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Dept. of CSE,PCIU</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600" b="1" u="sng"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7912959"/>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2"/>
          <p:cNvSpPr txBox="1">
            <a:spLocks noGrp="1"/>
          </p:cNvSpPr>
          <p:nvPr>
            <p:ph type="title"/>
          </p:nvPr>
        </p:nvSpPr>
        <p:spPr>
          <a:xfrm>
            <a:off x="751936" y="260351"/>
            <a:ext cx="10515600" cy="71860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Contents</a:t>
            </a:r>
            <a:endParaRPr sz="3200" b="1">
              <a:latin typeface="Times New Roman"/>
              <a:ea typeface="Times New Roman"/>
              <a:cs typeface="Times New Roman"/>
              <a:sym typeface="Times New Roman"/>
            </a:endParaRPr>
          </a:p>
        </p:txBody>
      </p:sp>
      <p:sp>
        <p:nvSpPr>
          <p:cNvPr id="100" name="Google Shape;100;p2"/>
          <p:cNvSpPr txBox="1">
            <a:spLocks noGrp="1"/>
          </p:cNvSpPr>
          <p:nvPr>
            <p:ph type="body" idx="1"/>
          </p:nvPr>
        </p:nvSpPr>
        <p:spPr>
          <a:xfrm>
            <a:off x="838200" y="1083733"/>
            <a:ext cx="10515600" cy="5063067"/>
          </a:xfrm>
          <a:prstGeom prst="rect">
            <a:avLst/>
          </a:prstGeom>
          <a:noFill/>
          <a:ln>
            <a:noFill/>
          </a:ln>
        </p:spPr>
        <p:txBody>
          <a:bodyPr spcFirstLastPara="1" wrap="square" lIns="91425" tIns="45700" rIns="91425" bIns="45700" anchor="t" anchorCtr="0">
            <a:normAutofit/>
          </a:bodyPr>
          <a:lstStyle/>
          <a:p>
            <a:pPr marL="228600" lvl="0" indent="-228647" algn="l" rtl="0">
              <a:lnSpc>
                <a:spcPct val="90000"/>
              </a:lnSpc>
              <a:spcBef>
                <a:spcPts val="0"/>
              </a:spcBef>
              <a:spcAft>
                <a:spcPts val="0"/>
              </a:spcAft>
              <a:buClr>
                <a:schemeClr val="dk1"/>
              </a:buClr>
              <a:buSzPct val="100000"/>
              <a:buFont typeface="Noto Sans Symbols"/>
              <a:buChar char="❑"/>
            </a:pPr>
            <a:r>
              <a:rPr lang="en-US" sz="2000" dirty="0">
                <a:latin typeface="Times New Roman"/>
                <a:ea typeface="Times New Roman"/>
                <a:cs typeface="Times New Roman"/>
                <a:sym typeface="Times New Roman"/>
              </a:rPr>
              <a:t> Introduction</a:t>
            </a:r>
            <a:endParaRPr sz="2000" dirty="0"/>
          </a:p>
          <a:p>
            <a:pPr marL="228600" lvl="0" indent="-228647" algn="l" rtl="0">
              <a:lnSpc>
                <a:spcPct val="90000"/>
              </a:lnSpc>
              <a:spcBef>
                <a:spcPts val="1000"/>
              </a:spcBef>
              <a:spcAft>
                <a:spcPts val="0"/>
              </a:spcAft>
              <a:buClr>
                <a:schemeClr val="dk1"/>
              </a:buClr>
              <a:buSzPct val="100000"/>
              <a:buFont typeface="Noto Sans Symbols"/>
              <a:buChar char="❑"/>
            </a:pPr>
            <a:r>
              <a:rPr lang="en-US" sz="2000" dirty="0">
                <a:latin typeface="Times New Roman"/>
                <a:ea typeface="Times New Roman"/>
                <a:cs typeface="Times New Roman"/>
                <a:sym typeface="Times New Roman"/>
              </a:rPr>
              <a:t> Motivation</a:t>
            </a:r>
            <a:endParaRPr sz="2000" dirty="0"/>
          </a:p>
          <a:p>
            <a:pPr marL="228600" lvl="0" indent="-228647" algn="l" rtl="0">
              <a:lnSpc>
                <a:spcPct val="90000"/>
              </a:lnSpc>
              <a:spcBef>
                <a:spcPts val="1000"/>
              </a:spcBef>
              <a:spcAft>
                <a:spcPts val="0"/>
              </a:spcAft>
              <a:buClr>
                <a:schemeClr val="dk1"/>
              </a:buClr>
              <a:buSzPct val="100000"/>
              <a:buFont typeface="Noto Sans Symbols"/>
              <a:buChar char="❑"/>
            </a:pPr>
            <a:r>
              <a:rPr lang="en-US" sz="2000" dirty="0">
                <a:latin typeface="Times New Roman"/>
                <a:ea typeface="Times New Roman"/>
                <a:cs typeface="Times New Roman"/>
                <a:sym typeface="Times New Roman"/>
              </a:rPr>
              <a:t> Problem Statement</a:t>
            </a:r>
            <a:endParaRPr sz="2000" dirty="0"/>
          </a:p>
          <a:p>
            <a:pPr marL="228600" lvl="0" indent="-228647" algn="l" rtl="0">
              <a:lnSpc>
                <a:spcPct val="90000"/>
              </a:lnSpc>
              <a:spcBef>
                <a:spcPts val="1000"/>
              </a:spcBef>
              <a:spcAft>
                <a:spcPts val="0"/>
              </a:spcAft>
              <a:buClr>
                <a:schemeClr val="dk1"/>
              </a:buClr>
              <a:buSzPct val="100000"/>
              <a:buFont typeface="Noto Sans Symbols"/>
              <a:buChar char="❑"/>
            </a:pPr>
            <a:r>
              <a:rPr lang="en-US" sz="2000" dirty="0">
                <a:latin typeface="Times New Roman"/>
                <a:ea typeface="Times New Roman"/>
                <a:cs typeface="Times New Roman"/>
                <a:sym typeface="Times New Roman"/>
              </a:rPr>
              <a:t> Objectives</a:t>
            </a:r>
            <a:endParaRPr sz="2000" dirty="0"/>
          </a:p>
          <a:p>
            <a:pPr marL="228600" lvl="0" indent="-228647" algn="l" rtl="0">
              <a:lnSpc>
                <a:spcPct val="90000"/>
              </a:lnSpc>
              <a:spcBef>
                <a:spcPts val="1000"/>
              </a:spcBef>
              <a:spcAft>
                <a:spcPts val="0"/>
              </a:spcAft>
              <a:buClr>
                <a:schemeClr val="dk1"/>
              </a:buClr>
              <a:buSzPct val="100000"/>
              <a:buFont typeface="Noto Sans Symbols"/>
              <a:buChar char="❑"/>
            </a:pPr>
            <a:r>
              <a:rPr lang="en-US" sz="2000" dirty="0">
                <a:latin typeface="Times New Roman"/>
                <a:ea typeface="Times New Roman"/>
                <a:cs typeface="Times New Roman"/>
                <a:sym typeface="Times New Roman"/>
              </a:rPr>
              <a:t> Literature Review</a:t>
            </a:r>
            <a:endParaRPr sz="2000" dirty="0"/>
          </a:p>
          <a:p>
            <a:pPr marL="228600" lvl="0" indent="-228647" algn="l" rtl="0">
              <a:lnSpc>
                <a:spcPct val="90000"/>
              </a:lnSpc>
              <a:spcBef>
                <a:spcPts val="1000"/>
              </a:spcBef>
              <a:spcAft>
                <a:spcPts val="0"/>
              </a:spcAft>
              <a:buClr>
                <a:schemeClr val="dk1"/>
              </a:buClr>
              <a:buSzPct val="100000"/>
              <a:buFont typeface="Noto Sans Symbols"/>
              <a:buChar char="❑"/>
            </a:pPr>
            <a:r>
              <a:rPr lang="en-US" sz="2000" dirty="0">
                <a:latin typeface="Times New Roman"/>
                <a:ea typeface="Times New Roman"/>
                <a:cs typeface="Times New Roman"/>
                <a:sym typeface="Times New Roman"/>
              </a:rPr>
              <a:t> System Requirements</a:t>
            </a:r>
            <a:endParaRPr sz="2000" dirty="0"/>
          </a:p>
          <a:p>
            <a:pPr marL="228600" lvl="0" indent="-228647" algn="l" rtl="0">
              <a:lnSpc>
                <a:spcPct val="90000"/>
              </a:lnSpc>
              <a:spcBef>
                <a:spcPts val="1000"/>
              </a:spcBef>
              <a:spcAft>
                <a:spcPts val="0"/>
              </a:spcAft>
              <a:buClr>
                <a:schemeClr val="dk1"/>
              </a:buClr>
              <a:buSzPct val="100000"/>
              <a:buFont typeface="Noto Sans Symbols"/>
              <a:buChar char="❑"/>
            </a:pPr>
            <a:r>
              <a:rPr lang="en-US" sz="2000" dirty="0">
                <a:latin typeface="Times New Roman"/>
                <a:ea typeface="Times New Roman"/>
                <a:cs typeface="Times New Roman"/>
                <a:sym typeface="Times New Roman"/>
              </a:rPr>
              <a:t> Proposed methodology</a:t>
            </a:r>
            <a:endParaRPr sz="2000" dirty="0"/>
          </a:p>
          <a:p>
            <a:pPr marL="228600" lvl="0" indent="-228647" algn="l" rtl="0">
              <a:lnSpc>
                <a:spcPct val="90000"/>
              </a:lnSpc>
              <a:spcBef>
                <a:spcPts val="1000"/>
              </a:spcBef>
              <a:spcAft>
                <a:spcPts val="0"/>
              </a:spcAft>
              <a:buClr>
                <a:schemeClr val="dk1"/>
              </a:buClr>
              <a:buSzPct val="100000"/>
              <a:buFont typeface="Noto Sans Symbols"/>
              <a:buChar char="❑"/>
            </a:pPr>
            <a:r>
              <a:rPr lang="en-US" sz="2000" dirty="0">
                <a:latin typeface="Times New Roman"/>
                <a:ea typeface="Times New Roman"/>
                <a:cs typeface="Times New Roman"/>
                <a:sym typeface="Times New Roman"/>
              </a:rPr>
              <a:t> Dataset</a:t>
            </a:r>
            <a:endParaRPr sz="2000" dirty="0"/>
          </a:p>
          <a:p>
            <a:pPr marL="228600" lvl="0" indent="-228647" algn="l" rtl="0">
              <a:lnSpc>
                <a:spcPct val="90000"/>
              </a:lnSpc>
              <a:spcBef>
                <a:spcPts val="1000"/>
              </a:spcBef>
              <a:spcAft>
                <a:spcPts val="0"/>
              </a:spcAft>
              <a:buClr>
                <a:schemeClr val="dk1"/>
              </a:buClr>
              <a:buSzPct val="100000"/>
              <a:buFont typeface="Noto Sans Symbols"/>
              <a:buChar char="❑"/>
            </a:pPr>
            <a:r>
              <a:rPr lang="en-US" sz="2000" dirty="0">
                <a:latin typeface="Times New Roman"/>
                <a:ea typeface="Times New Roman"/>
                <a:cs typeface="Times New Roman"/>
                <a:sym typeface="Times New Roman"/>
              </a:rPr>
              <a:t> Conclusion</a:t>
            </a:r>
            <a:endParaRPr sz="2000" dirty="0"/>
          </a:p>
          <a:p>
            <a:pPr marL="228600" lvl="0" indent="-228647" algn="l" rtl="0">
              <a:lnSpc>
                <a:spcPct val="90000"/>
              </a:lnSpc>
              <a:spcBef>
                <a:spcPts val="1000"/>
              </a:spcBef>
              <a:spcAft>
                <a:spcPts val="0"/>
              </a:spcAft>
              <a:buClr>
                <a:schemeClr val="dk1"/>
              </a:buClr>
              <a:buSzPct val="100000"/>
              <a:buFont typeface="Noto Sans Symbols"/>
              <a:buChar char="❑"/>
            </a:pPr>
            <a:r>
              <a:rPr lang="en-US" sz="2000" dirty="0">
                <a:latin typeface="Times New Roman"/>
                <a:ea typeface="Times New Roman"/>
                <a:cs typeface="Times New Roman"/>
                <a:sym typeface="Times New Roman"/>
              </a:rPr>
              <a:t> References</a:t>
            </a:r>
            <a:endParaRPr sz="2000" dirty="0">
              <a:latin typeface="Times New Roman"/>
              <a:ea typeface="Times New Roman"/>
              <a:cs typeface="Times New Roman"/>
              <a:sym typeface="Times New Roman"/>
            </a:endParaRPr>
          </a:p>
          <a:p>
            <a:pPr marL="228600" lvl="0" indent="-125857" algn="l" rtl="0">
              <a:lnSpc>
                <a:spcPct val="90000"/>
              </a:lnSpc>
              <a:spcBef>
                <a:spcPts val="1000"/>
              </a:spcBef>
              <a:spcAft>
                <a:spcPts val="0"/>
              </a:spcAft>
              <a:buClr>
                <a:schemeClr val="dk1"/>
              </a:buClr>
              <a:buSzPct val="100000"/>
              <a:buFont typeface="Noto Sans Symbols"/>
              <a:buNone/>
            </a:pPr>
            <a:endParaRPr sz="1750" dirty="0">
              <a:latin typeface="Times New Roman"/>
              <a:ea typeface="Times New Roman"/>
              <a:cs typeface="Times New Roman"/>
              <a:sym typeface="Times New Roman"/>
            </a:endParaRPr>
          </a:p>
          <a:p>
            <a:pPr marL="228600" lvl="0" indent="-125857" algn="l" rtl="0">
              <a:lnSpc>
                <a:spcPct val="90000"/>
              </a:lnSpc>
              <a:spcBef>
                <a:spcPts val="1000"/>
              </a:spcBef>
              <a:spcAft>
                <a:spcPts val="0"/>
              </a:spcAft>
              <a:buClr>
                <a:schemeClr val="dk1"/>
              </a:buClr>
              <a:buSzPct val="100000"/>
              <a:buFont typeface="Noto Sans Symbols"/>
              <a:buNone/>
            </a:pPr>
            <a:endParaRPr sz="1750" dirty="0">
              <a:latin typeface="Times New Roman"/>
              <a:ea typeface="Times New Roman"/>
              <a:cs typeface="Times New Roman"/>
              <a:sym typeface="Times New Roman"/>
            </a:endParaRPr>
          </a:p>
          <a:p>
            <a:pPr marL="228600" lvl="0" indent="-125857" algn="l" rtl="0">
              <a:lnSpc>
                <a:spcPct val="90000"/>
              </a:lnSpc>
              <a:spcBef>
                <a:spcPts val="1000"/>
              </a:spcBef>
              <a:spcAft>
                <a:spcPts val="0"/>
              </a:spcAft>
              <a:buClr>
                <a:schemeClr val="dk1"/>
              </a:buClr>
              <a:buSzPct val="100000"/>
              <a:buFont typeface="Noto Sans Symbols"/>
              <a:buNone/>
            </a:pPr>
            <a:endParaRPr sz="1750" dirty="0">
              <a:latin typeface="Times New Roman"/>
              <a:ea typeface="Times New Roman"/>
              <a:cs typeface="Times New Roman"/>
              <a:sym typeface="Times New Roman"/>
            </a:endParaRPr>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sz="1800" b="1">
                <a:solidFill>
                  <a:srgbClr val="171616"/>
                </a:solidFill>
                <a:latin typeface="Times New Roman"/>
                <a:ea typeface="Times New Roman"/>
                <a:cs typeface="Times New Roman"/>
                <a:sym typeface="Times New Roman"/>
              </a:rPr>
              <a:t>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dirty="0">
                <a:latin typeface="Times New Roman"/>
                <a:ea typeface="Times New Roman"/>
                <a:cs typeface="Times New Roman"/>
                <a:sym typeface="Times New Roman"/>
              </a:rPr>
              <a:t>Introduction</a:t>
            </a:r>
            <a:endParaRPr sz="3600" b="1" dirty="0">
              <a:latin typeface="Times New Roman"/>
              <a:ea typeface="Times New Roman"/>
              <a:cs typeface="Times New Roman"/>
              <a:sym typeface="Times New Roman"/>
            </a:endParaRPr>
          </a:p>
        </p:txBody>
      </p:sp>
      <p:sp>
        <p:nvSpPr>
          <p:cNvPr id="108" name="Google Shape;108;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355600" algn="just">
              <a:lnSpc>
                <a:spcPct val="100000"/>
              </a:lnSpc>
              <a:spcBef>
                <a:spcPts val="1180"/>
              </a:spcBef>
              <a:buSzPts val="1600"/>
              <a:buFont typeface="Noto Sans Symbols"/>
              <a:buChar char="❑"/>
            </a:pPr>
            <a:r>
              <a:rPr lang="en-US" sz="2000" dirty="0">
                <a:latin typeface="Times New Roman"/>
                <a:ea typeface="Times New Roman"/>
                <a:cs typeface="Times New Roman"/>
                <a:sym typeface="Times New Roman"/>
              </a:rPr>
              <a:t>Sports are competitive physical activities or games that follows rules and involve individuals or teams. Examples include football, cricket, tennis etc. Sports generate a large amount of opinions on social media in Bangla language.</a:t>
            </a:r>
          </a:p>
          <a:p>
            <a:pPr marL="355600" algn="just">
              <a:lnSpc>
                <a:spcPct val="100000"/>
              </a:lnSpc>
              <a:spcBef>
                <a:spcPts val="1180"/>
              </a:spcBef>
              <a:buSzPts val="1600"/>
              <a:buFont typeface="Noto Sans Symbols"/>
              <a:buChar char="❑"/>
            </a:pPr>
            <a:r>
              <a:rPr lang="en-US" sz="2000" dirty="0">
                <a:latin typeface="Times New Roman"/>
                <a:ea typeface="Times New Roman"/>
                <a:cs typeface="Times New Roman"/>
                <a:sym typeface="Times New Roman"/>
              </a:rPr>
              <a:t>Sentiment refers to the person’s feelings, opinions, or emotional attitude towards something. Sentiment Analysis helps to identify positive, negative, and neutral opinions.</a:t>
            </a:r>
          </a:p>
          <a:p>
            <a:pPr marL="355600" algn="just">
              <a:lnSpc>
                <a:spcPct val="100000"/>
              </a:lnSpc>
              <a:spcBef>
                <a:spcPts val="1180"/>
              </a:spcBef>
              <a:buSzPts val="1600"/>
              <a:buFont typeface="Noto Sans Symbols"/>
              <a:buChar char="❑"/>
            </a:pPr>
            <a:r>
              <a:rPr lang="en-US" sz="2000" dirty="0">
                <a:latin typeface="Times New Roman"/>
                <a:ea typeface="Times New Roman"/>
                <a:cs typeface="Times New Roman"/>
                <a:sym typeface="Times New Roman"/>
              </a:rPr>
              <a:t>Sports sentiment analysis is the process of analyzing people’s emotions and opinions expressed  in sports-related text such as : Social media comments, Fan reactions, New articles, Match reviews. Bangladeshi fans actively express emotions about cricket and football.</a:t>
            </a:r>
          </a:p>
          <a:p>
            <a:pPr marL="355600" algn="just">
              <a:lnSpc>
                <a:spcPct val="100000"/>
              </a:lnSpc>
              <a:spcBef>
                <a:spcPts val="1180"/>
              </a:spcBef>
              <a:buSzPts val="1600"/>
              <a:buFont typeface="Noto Sans Symbols"/>
              <a:buChar char="❑"/>
            </a:pPr>
            <a:endParaRPr lang="en-US" sz="2000" dirty="0">
              <a:latin typeface="Times New Roman"/>
              <a:ea typeface="Times New Roman"/>
              <a:cs typeface="Times New Roman"/>
              <a:sym typeface="Times New Roman"/>
            </a:endParaRPr>
          </a:p>
          <a:p>
            <a:pPr marL="355600" lvl="0" indent="-342900" algn="just" rtl="0">
              <a:lnSpc>
                <a:spcPct val="100000"/>
              </a:lnSpc>
              <a:spcBef>
                <a:spcPts val="1180"/>
              </a:spcBef>
              <a:spcAft>
                <a:spcPts val="0"/>
              </a:spcAft>
              <a:buClr>
                <a:schemeClr val="dk1"/>
              </a:buClr>
              <a:buSzPts val="1600"/>
              <a:buFont typeface="Noto Sans Symbols"/>
              <a:buChar char="❑"/>
            </a:pPr>
            <a:endParaRPr lang="en-US" sz="2000" dirty="0">
              <a:latin typeface="Times New Roman"/>
              <a:ea typeface="Times New Roman"/>
              <a:cs typeface="Times New Roman"/>
              <a:sym typeface="Times New Roman"/>
            </a:endParaRPr>
          </a:p>
          <a:p>
            <a:pPr marL="12700" lvl="0" indent="0" algn="just" rtl="0">
              <a:lnSpc>
                <a:spcPct val="100000"/>
              </a:lnSpc>
              <a:spcBef>
                <a:spcPts val="1180"/>
              </a:spcBef>
              <a:spcAft>
                <a:spcPts val="0"/>
              </a:spcAft>
              <a:buClr>
                <a:schemeClr val="dk1"/>
              </a:buClr>
              <a:buSzPts val="1600"/>
              <a:buNone/>
            </a:pPr>
            <a:endParaRPr lang="en-US" sz="1600" dirty="0">
              <a:latin typeface="Times New Roman"/>
              <a:ea typeface="Times New Roman"/>
              <a:cs typeface="Times New Roman"/>
              <a:sym typeface="Times New Roman"/>
            </a:endParaRPr>
          </a:p>
        </p:txBody>
      </p:sp>
      <p:sp>
        <p:nvSpPr>
          <p:cNvPr id="109" name="Google Shape;109;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sz="1800" b="1">
                <a:solidFill>
                  <a:srgbClr val="171616"/>
                </a:solidFill>
                <a:latin typeface="Times New Roman"/>
                <a:ea typeface="Times New Roman"/>
                <a:cs typeface="Times New Roman"/>
                <a:sym typeface="Times New Roman"/>
              </a:rPr>
              <a:t>2</a:t>
            </a:r>
            <a:endParaRPr sz="1800" b="1">
              <a:solidFill>
                <a:srgbClr val="171616"/>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Motivation</a:t>
            </a:r>
            <a:endParaRPr sz="3600" b="1">
              <a:latin typeface="Times New Roman"/>
              <a:ea typeface="Times New Roman"/>
              <a:cs typeface="Times New Roman"/>
              <a:sym typeface="Times New Roman"/>
            </a:endParaRPr>
          </a:p>
        </p:txBody>
      </p:sp>
      <p:sp>
        <p:nvSpPr>
          <p:cNvPr id="116" name="Google Shape;116;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indent="-228600">
              <a:spcBef>
                <a:spcPts val="0"/>
              </a:spcBef>
              <a:buFont typeface="Noto Sans Symbols"/>
              <a:buChar char="❑"/>
            </a:pPr>
            <a:r>
              <a:rPr lang="en-US" sz="2000" dirty="0">
                <a:latin typeface="Times New Roman"/>
                <a:ea typeface="Times New Roman"/>
                <a:cs typeface="Times New Roman"/>
                <a:sym typeface="Times New Roman"/>
              </a:rPr>
              <a:t> Sports emotions reflect public mood and national sentiment.</a:t>
            </a:r>
            <a:endParaRPr sz="2000" dirty="0"/>
          </a:p>
          <a:p>
            <a:pPr marL="228600" lvl="0" indent="-228600" rtl="0">
              <a:lnSpc>
                <a:spcPct val="90000"/>
              </a:lnSpc>
              <a:spcBef>
                <a:spcPts val="1000"/>
              </a:spcBef>
              <a:spcAft>
                <a:spcPts val="0"/>
              </a:spcAft>
              <a:buClr>
                <a:schemeClr val="dk1"/>
              </a:buClr>
              <a:buSzPts val="1800"/>
              <a:buFont typeface="Noto Sans Symbols"/>
              <a:buChar char="❑"/>
            </a:pPr>
            <a:r>
              <a:rPr lang="en-US" sz="2000" dirty="0">
                <a:latin typeface="Times New Roman"/>
                <a:ea typeface="Times New Roman"/>
                <a:cs typeface="Times New Roman"/>
                <a:sym typeface="Times New Roman"/>
              </a:rPr>
              <a:t> Understanding these emotions helps teams, brands, and organizers engage better with fans.</a:t>
            </a:r>
          </a:p>
          <a:p>
            <a:pPr marL="228600" lvl="0" indent="-228600">
              <a:buFont typeface="Noto Sans Symbols"/>
              <a:buChar char="❑"/>
            </a:pPr>
            <a:r>
              <a:rPr lang="en-US" sz="2000" dirty="0">
                <a:latin typeface="Times New Roman"/>
                <a:ea typeface="Times New Roman"/>
                <a:cs typeface="Times New Roman"/>
                <a:sym typeface="Times New Roman"/>
              </a:rPr>
              <a:t> Sports Fans use social media to express their emotions about matches, players, and teams. </a:t>
            </a:r>
          </a:p>
          <a:p>
            <a:pPr marL="228600" lvl="0" indent="-228600" rtl="0">
              <a:lnSpc>
                <a:spcPct val="90000"/>
              </a:lnSpc>
              <a:spcBef>
                <a:spcPts val="1000"/>
              </a:spcBef>
              <a:spcAft>
                <a:spcPts val="0"/>
              </a:spcAft>
              <a:buClr>
                <a:schemeClr val="dk1"/>
              </a:buClr>
              <a:buSzPts val="1800"/>
              <a:buFont typeface="Noto Sans Symbols"/>
              <a:buChar char="❑"/>
            </a:pPr>
            <a:r>
              <a:rPr lang="en-US" sz="2000" dirty="0">
                <a:latin typeface="Times New Roman"/>
                <a:ea typeface="Times New Roman"/>
                <a:cs typeface="Times New Roman"/>
                <a:sym typeface="Times New Roman"/>
              </a:rPr>
              <a:t> Huge volume of Bangla sports comments remain unanalyzed.</a:t>
            </a:r>
          </a:p>
          <a:p>
            <a:pPr marL="228600" lvl="0" indent="-228600" rtl="0">
              <a:lnSpc>
                <a:spcPct val="90000"/>
              </a:lnSpc>
              <a:spcBef>
                <a:spcPts val="1000"/>
              </a:spcBef>
              <a:spcAft>
                <a:spcPts val="0"/>
              </a:spcAft>
              <a:buClr>
                <a:schemeClr val="dk1"/>
              </a:buClr>
              <a:buSzPts val="1800"/>
              <a:buFont typeface="Noto Sans Symbols"/>
              <a:buChar char="❑"/>
            </a:pPr>
            <a:r>
              <a:rPr lang="en-US" sz="2000" dirty="0">
                <a:latin typeface="Times New Roman"/>
                <a:ea typeface="Times New Roman"/>
                <a:cs typeface="Times New Roman"/>
                <a:sym typeface="Times New Roman"/>
              </a:rPr>
              <a:t> Sports sentiment analysis has gained significant attention in natural language processing,   particularly for high-resource language such as </a:t>
            </a:r>
            <a:r>
              <a:rPr lang="en-US" sz="2000" dirty="0" err="1">
                <a:latin typeface="Times New Roman"/>
                <a:ea typeface="Times New Roman"/>
                <a:cs typeface="Times New Roman"/>
                <a:sym typeface="Times New Roman"/>
              </a:rPr>
              <a:t>English,Spanish,Chinese</a:t>
            </a:r>
            <a:r>
              <a:rPr lang="en-US" sz="2000" dirty="0">
                <a:latin typeface="Times New Roman"/>
                <a:ea typeface="Times New Roman"/>
                <a:cs typeface="Times New Roman"/>
                <a:sym typeface="Times New Roman"/>
              </a:rPr>
              <a:t>.</a:t>
            </a:r>
          </a:p>
          <a:p>
            <a:pPr marL="228600" lvl="0" indent="-228600" rtl="0">
              <a:lnSpc>
                <a:spcPct val="90000"/>
              </a:lnSpc>
              <a:spcBef>
                <a:spcPts val="1000"/>
              </a:spcBef>
              <a:spcAft>
                <a:spcPts val="0"/>
              </a:spcAft>
              <a:buClr>
                <a:schemeClr val="dk1"/>
              </a:buClr>
              <a:buSzPts val="1800"/>
              <a:buFont typeface="Noto Sans Symbols"/>
              <a:buChar char="❑"/>
            </a:pPr>
            <a:r>
              <a:rPr lang="en-US" sz="2000" dirty="0">
                <a:latin typeface="Times New Roman"/>
                <a:ea typeface="Times New Roman"/>
                <a:cs typeface="Times New Roman"/>
                <a:sym typeface="Times New Roman"/>
              </a:rPr>
              <a:t> Despite the widespread popularity of sports- in Bangladesh and other Bengali-speaking </a:t>
            </a:r>
            <a:r>
              <a:rPr lang="en-US" sz="2000" dirty="0" err="1">
                <a:latin typeface="Times New Roman"/>
                <a:ea typeface="Times New Roman"/>
                <a:cs typeface="Times New Roman"/>
                <a:sym typeface="Times New Roman"/>
              </a:rPr>
              <a:t>regions,research</a:t>
            </a:r>
            <a:r>
              <a:rPr lang="en-US" sz="2000" dirty="0">
                <a:latin typeface="Times New Roman"/>
                <a:ea typeface="Times New Roman"/>
                <a:cs typeface="Times New Roman"/>
                <a:sym typeface="Times New Roman"/>
              </a:rPr>
              <a:t> on sentiment analysis using Bangla sports text remains very limited.</a:t>
            </a:r>
            <a:endParaRPr sz="2000" dirty="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800"/>
              <a:buNone/>
            </a:pPr>
            <a:endParaRPr sz="1800" dirty="0">
              <a:latin typeface="Times New Roman"/>
              <a:ea typeface="Times New Roman"/>
              <a:cs typeface="Times New Roman"/>
              <a:sym typeface="Times New Roman"/>
            </a:endParaRPr>
          </a:p>
          <a:p>
            <a:pPr marL="228600" lvl="0" indent="-114300" algn="l" rtl="0">
              <a:lnSpc>
                <a:spcPct val="90000"/>
              </a:lnSpc>
              <a:spcBef>
                <a:spcPts val="1000"/>
              </a:spcBef>
              <a:spcAft>
                <a:spcPts val="0"/>
              </a:spcAft>
              <a:buClr>
                <a:schemeClr val="dk1"/>
              </a:buClr>
              <a:buSzPts val="1800"/>
              <a:buFont typeface="Noto Sans Symbols"/>
              <a:buNone/>
            </a:pPr>
            <a:endParaRPr sz="1800" dirty="0">
              <a:latin typeface="Times New Roman"/>
              <a:ea typeface="Times New Roman"/>
              <a:cs typeface="Times New Roman"/>
              <a:sym typeface="Times New Roman"/>
            </a:endParaRPr>
          </a:p>
        </p:txBody>
      </p:sp>
      <p:sp>
        <p:nvSpPr>
          <p:cNvPr id="117" name="Google Shape;117;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sz="1800" b="1">
                <a:solidFill>
                  <a:srgbClr val="171616"/>
                </a:solidFill>
                <a:latin typeface="Times New Roman"/>
                <a:ea typeface="Times New Roman"/>
                <a:cs typeface="Times New Roman"/>
                <a:sym typeface="Times New Roman"/>
              </a:rPr>
              <a:t>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dirty="0">
                <a:latin typeface="Times New Roman"/>
                <a:ea typeface="Times New Roman"/>
                <a:cs typeface="Times New Roman"/>
                <a:sym typeface="Times New Roman"/>
              </a:rPr>
              <a:t>Problem Statement</a:t>
            </a:r>
            <a:endParaRPr sz="3600" b="1" dirty="0">
              <a:latin typeface="Times New Roman"/>
              <a:ea typeface="Times New Roman"/>
              <a:cs typeface="Times New Roman"/>
              <a:sym typeface="Times New Roman"/>
            </a:endParaRPr>
          </a:p>
        </p:txBody>
      </p:sp>
      <p:sp>
        <p:nvSpPr>
          <p:cNvPr id="123" name="Google Shape;123;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rtl="0">
              <a:lnSpc>
                <a:spcPct val="90000"/>
              </a:lnSpc>
              <a:spcBef>
                <a:spcPts val="0"/>
              </a:spcBef>
              <a:spcAft>
                <a:spcPts val="0"/>
              </a:spcAft>
              <a:buClr>
                <a:schemeClr val="dk1"/>
              </a:buClr>
              <a:buSzPts val="1600"/>
              <a:buNone/>
            </a:pPr>
            <a:r>
              <a:rPr lang="en-US" sz="2000" dirty="0">
                <a:latin typeface="Times New Roman" panose="02020603050405020304" pitchFamily="18" charset="0"/>
                <a:cs typeface="Times New Roman" panose="02020603050405020304" pitchFamily="18" charset="0"/>
              </a:rPr>
              <a:t>Bengali sports fans actively engage on social media, but there is a critical lack of effective sentiment analysis tools for Bangla sports content. Existing models fail to accurately interpret Bangla sports discussions due to informal language, mixed scripts, and domain-specific terms. This gap prevents sports organizations, media, and brands from understanding fan emotions and preferences. Our research develops robust machine learning and deep learning models to accurately analyze Bangla sports sentiments, enabling data-driven decisions, enhanced fan engagement, and improved content strategies for the rapidly growing Bengali sports community.</a:t>
            </a:r>
            <a:endParaRPr lang="en-US" sz="2000" dirty="0">
              <a:latin typeface="Times New Roman" panose="02020603050405020304" pitchFamily="18" charset="0"/>
              <a:cs typeface="Times New Roman" panose="02020603050405020304" pitchFamily="18" charset="0"/>
              <a:sym typeface="Times New Roman"/>
            </a:endParaRPr>
          </a:p>
        </p:txBody>
      </p:sp>
      <p:sp>
        <p:nvSpPr>
          <p:cNvPr id="124" name="Google Shape;124;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sz="1800" b="1" dirty="0">
                <a:solidFill>
                  <a:srgbClr val="171616"/>
                </a:solidFill>
                <a:latin typeface="Times New Roman"/>
                <a:ea typeface="Times New Roman"/>
                <a:cs typeface="Times New Roman"/>
                <a:sym typeface="Times New Roman"/>
              </a:rPr>
              <a:t>4</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dirty="0">
                <a:latin typeface="Times New Roman"/>
                <a:ea typeface="Times New Roman"/>
                <a:cs typeface="Times New Roman"/>
                <a:sym typeface="Times New Roman"/>
              </a:rPr>
              <a:t>Objectives</a:t>
            </a:r>
            <a:endParaRPr sz="3600" b="1" dirty="0">
              <a:latin typeface="Times New Roman"/>
              <a:ea typeface="Times New Roman"/>
              <a:cs typeface="Times New Roman"/>
              <a:sym typeface="Times New Roman"/>
            </a:endParaRPr>
          </a:p>
        </p:txBody>
      </p:sp>
      <p:sp>
        <p:nvSpPr>
          <p:cNvPr id="130" name="Google Shape;130;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600"/>
              <a:buFont typeface="Noto Sans Symbols"/>
              <a:buChar char="❑"/>
            </a:pPr>
            <a:r>
              <a:rPr lang="en-US" sz="2000" dirty="0">
                <a:latin typeface="Times New Roman"/>
                <a:ea typeface="Times New Roman"/>
                <a:cs typeface="Times New Roman"/>
                <a:sym typeface="Times New Roman"/>
              </a:rPr>
              <a:t>To develop a robust sentiment analysis model that can effectively process and classify sports related textual  data.</a:t>
            </a:r>
            <a:endParaRPr sz="2000" dirty="0"/>
          </a:p>
          <a:p>
            <a:pPr marL="228600" lvl="0" indent="-228600" algn="l" rtl="0">
              <a:lnSpc>
                <a:spcPct val="90000"/>
              </a:lnSpc>
              <a:spcBef>
                <a:spcPts val="1000"/>
              </a:spcBef>
              <a:spcAft>
                <a:spcPts val="0"/>
              </a:spcAft>
              <a:buClr>
                <a:schemeClr val="dk1"/>
              </a:buClr>
              <a:buSzPts val="1600"/>
              <a:buFont typeface="Noto Sans Symbols"/>
              <a:buChar char="❑"/>
            </a:pPr>
            <a:r>
              <a:rPr lang="en-US" sz="2000" dirty="0">
                <a:latin typeface="Times New Roman"/>
                <a:ea typeface="Times New Roman"/>
                <a:cs typeface="Times New Roman"/>
                <a:sym typeface="Times New Roman"/>
              </a:rPr>
              <a:t> To identify the best approach for Bangla sports sentiment analysis.</a:t>
            </a:r>
            <a:endParaRPr sz="2000" dirty="0"/>
          </a:p>
          <a:p>
            <a:pPr marL="228600" lvl="0" indent="-228600" algn="l" rtl="0">
              <a:lnSpc>
                <a:spcPct val="90000"/>
              </a:lnSpc>
              <a:spcBef>
                <a:spcPts val="1000"/>
              </a:spcBef>
              <a:spcAft>
                <a:spcPts val="0"/>
              </a:spcAft>
              <a:buClr>
                <a:schemeClr val="dk1"/>
              </a:buClr>
              <a:buSzPts val="1600"/>
              <a:buFont typeface="Noto Sans Symbols"/>
              <a:buChar char="❑"/>
            </a:pPr>
            <a:r>
              <a:rPr lang="en-US" sz="2000" dirty="0">
                <a:latin typeface="Times New Roman"/>
                <a:ea typeface="Times New Roman"/>
                <a:cs typeface="Times New Roman"/>
                <a:sym typeface="Times New Roman"/>
              </a:rPr>
              <a:t>To evaluate the performance of various Machine Learning and Deep Learning model as well as Transfer Learning model.</a:t>
            </a:r>
          </a:p>
          <a:p>
            <a:pPr marL="228600" lvl="0" indent="-228600" algn="l" rtl="0">
              <a:lnSpc>
                <a:spcPct val="90000"/>
              </a:lnSpc>
              <a:spcBef>
                <a:spcPts val="1000"/>
              </a:spcBef>
              <a:spcAft>
                <a:spcPts val="0"/>
              </a:spcAft>
              <a:buClr>
                <a:schemeClr val="dk1"/>
              </a:buClr>
              <a:buSzPts val="1600"/>
              <a:buFont typeface="Noto Sans Symbols"/>
              <a:buChar char="❑"/>
            </a:pPr>
            <a:r>
              <a:rPr lang="en-US" sz="2000" dirty="0">
                <a:latin typeface="Times New Roman"/>
                <a:cs typeface="Times New Roman"/>
                <a:sym typeface="Times New Roman"/>
              </a:rPr>
              <a:t>To explore the impact of linguistic features and domain-specific expressions on Bangla sports sentiment analysis.</a:t>
            </a:r>
          </a:p>
          <a:p>
            <a:pPr marL="228600" lvl="0" indent="-228600">
              <a:buSzPts val="1600"/>
              <a:buFont typeface="Noto Sans Symbols"/>
              <a:buChar char="❑"/>
            </a:pPr>
            <a:r>
              <a:rPr lang="en-US" sz="2000" dirty="0">
                <a:latin typeface="Times New Roman"/>
                <a:cs typeface="Times New Roman"/>
                <a:sym typeface="Times New Roman"/>
              </a:rPr>
              <a:t>To analyze sentiment pattern of Bengali sports fans across different match outcomes and events</a:t>
            </a:r>
            <a:endParaRPr sz="2000" dirty="0"/>
          </a:p>
          <a:p>
            <a:pPr marL="228600" lvl="0" indent="-127000" algn="l" rtl="0">
              <a:lnSpc>
                <a:spcPct val="90000"/>
              </a:lnSpc>
              <a:spcBef>
                <a:spcPts val="1000"/>
              </a:spcBef>
              <a:spcAft>
                <a:spcPts val="0"/>
              </a:spcAft>
              <a:buClr>
                <a:schemeClr val="dk1"/>
              </a:buClr>
              <a:buSzPts val="1600"/>
              <a:buFont typeface="Noto Sans Symbols"/>
              <a:buNone/>
            </a:pPr>
            <a:endParaRPr sz="1600" dirty="0">
              <a:latin typeface="Times New Roman"/>
              <a:ea typeface="Times New Roman"/>
              <a:cs typeface="Times New Roman"/>
              <a:sym typeface="Times New Roman"/>
            </a:endParaRPr>
          </a:p>
        </p:txBody>
      </p:sp>
      <p:sp>
        <p:nvSpPr>
          <p:cNvPr id="131" name="Google Shape;131;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sz="1800" b="1">
                <a:solidFill>
                  <a:srgbClr val="171616"/>
                </a:solidFill>
                <a:latin typeface="Times New Roman"/>
                <a:ea typeface="Times New Roman"/>
                <a:cs typeface="Times New Roman"/>
                <a:sym typeface="Times New Roman"/>
              </a:rPr>
              <a:t>5</a:t>
            </a:r>
            <a:endParaRPr sz="1800" b="1">
              <a:solidFill>
                <a:srgbClr val="171616"/>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7"/>
          <p:cNvSpPr txBox="1">
            <a:spLocks noGrp="1"/>
          </p:cNvSpPr>
          <p:nvPr>
            <p:ph type="sldNum" idx="12"/>
          </p:nvPr>
        </p:nvSpPr>
        <p:spPr>
          <a:xfrm>
            <a:off x="8790038" y="6264436"/>
            <a:ext cx="2743200" cy="8221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sz="1800" b="1" dirty="0">
                <a:solidFill>
                  <a:srgbClr val="171616"/>
                </a:solidFill>
                <a:latin typeface="Times New Roman"/>
                <a:ea typeface="Times New Roman"/>
                <a:cs typeface="Times New Roman"/>
                <a:sym typeface="Times New Roman"/>
              </a:rPr>
              <a:t>6</a:t>
            </a:r>
            <a:endParaRPr dirty="0"/>
          </a:p>
        </p:txBody>
      </p:sp>
      <p:sp>
        <p:nvSpPr>
          <p:cNvPr id="137" name="Google Shape;137;p7"/>
          <p:cNvSpPr txBox="1">
            <a:spLocks noGrp="1"/>
          </p:cNvSpPr>
          <p:nvPr>
            <p:ph type="title"/>
          </p:nvPr>
        </p:nvSpPr>
        <p:spPr>
          <a:xfrm>
            <a:off x="305814" y="39764"/>
            <a:ext cx="5517016"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3600"/>
              <a:buFont typeface="Times New Roman"/>
              <a:buNone/>
            </a:pPr>
            <a:r>
              <a:rPr lang="en-US" sz="3600" b="1" dirty="0">
                <a:latin typeface="Times New Roman"/>
                <a:ea typeface="Times New Roman"/>
                <a:cs typeface="Times New Roman"/>
                <a:sym typeface="Times New Roman"/>
              </a:rPr>
              <a:t>Literature Review</a:t>
            </a:r>
            <a:endParaRPr dirty="0"/>
          </a:p>
        </p:txBody>
      </p:sp>
      <p:graphicFrame>
        <p:nvGraphicFramePr>
          <p:cNvPr id="138" name="Google Shape;138;p7"/>
          <p:cNvGraphicFramePr/>
          <p:nvPr>
            <p:extLst>
              <p:ext uri="{D42A27DB-BD31-4B8C-83A1-F6EECF244321}">
                <p14:modId xmlns:p14="http://schemas.microsoft.com/office/powerpoint/2010/main" val="2402228200"/>
              </p:ext>
            </p:extLst>
          </p:nvPr>
        </p:nvGraphicFramePr>
        <p:xfrm>
          <a:off x="127820" y="606587"/>
          <a:ext cx="11808541" cy="5791370"/>
        </p:xfrm>
        <a:graphic>
          <a:graphicData uri="http://schemas.openxmlformats.org/drawingml/2006/table">
            <a:tbl>
              <a:tblPr firstRow="1" bandRow="1">
                <a:noFill/>
                <a:tableStyleId>{A12B2C4A-2641-410F-86F1-3BD795578828}</a:tableStyleId>
              </a:tblPr>
              <a:tblGrid>
                <a:gridCol w="779936">
                  <a:extLst>
                    <a:ext uri="{9D8B030D-6E8A-4147-A177-3AD203B41FA5}">
                      <a16:colId xmlns:a16="http://schemas.microsoft.com/office/drawing/2014/main" val="20000"/>
                    </a:ext>
                  </a:extLst>
                </a:gridCol>
                <a:gridCol w="2213921">
                  <a:extLst>
                    <a:ext uri="{9D8B030D-6E8A-4147-A177-3AD203B41FA5}">
                      <a16:colId xmlns:a16="http://schemas.microsoft.com/office/drawing/2014/main" val="20001"/>
                    </a:ext>
                  </a:extLst>
                </a:gridCol>
                <a:gridCol w="1311532">
                  <a:extLst>
                    <a:ext uri="{9D8B030D-6E8A-4147-A177-3AD203B41FA5}">
                      <a16:colId xmlns:a16="http://schemas.microsoft.com/office/drawing/2014/main" val="20002"/>
                    </a:ext>
                  </a:extLst>
                </a:gridCol>
                <a:gridCol w="2873658">
                  <a:extLst>
                    <a:ext uri="{9D8B030D-6E8A-4147-A177-3AD203B41FA5}">
                      <a16:colId xmlns:a16="http://schemas.microsoft.com/office/drawing/2014/main" val="20003"/>
                    </a:ext>
                  </a:extLst>
                </a:gridCol>
                <a:gridCol w="4629494">
                  <a:extLst>
                    <a:ext uri="{9D8B030D-6E8A-4147-A177-3AD203B41FA5}">
                      <a16:colId xmlns:a16="http://schemas.microsoft.com/office/drawing/2014/main" val="20004"/>
                    </a:ext>
                  </a:extLst>
                </a:gridCol>
              </a:tblGrid>
              <a:tr h="538979">
                <a:tc>
                  <a:txBody>
                    <a:bodyPr/>
                    <a:lstStyle/>
                    <a:p>
                      <a:pPr marL="140335" marR="132715" lvl="0" indent="27304" algn="l" rtl="0">
                        <a:lnSpc>
                          <a:spcPct val="100000"/>
                        </a:lnSpc>
                        <a:spcBef>
                          <a:spcPts val="0"/>
                        </a:spcBef>
                        <a:spcAft>
                          <a:spcPts val="0"/>
                        </a:spcAft>
                        <a:buNone/>
                      </a:pPr>
                      <a:r>
                        <a:rPr lang="en-US" sz="1600" b="1" u="none" strike="noStrike" cap="none" dirty="0">
                          <a:solidFill>
                            <a:srgbClr val="FFFFFF"/>
                          </a:solidFill>
                          <a:latin typeface="Times New Roman"/>
                          <a:ea typeface="Times New Roman"/>
                          <a:cs typeface="Times New Roman"/>
                          <a:sym typeface="Times New Roman"/>
                        </a:rPr>
                        <a:t>SL  NO</a:t>
                      </a:r>
                      <a:endParaRPr sz="1600" u="none" strike="noStrike" cap="none" dirty="0">
                        <a:latin typeface="Times New Roman"/>
                        <a:ea typeface="Times New Roman"/>
                        <a:cs typeface="Times New Roman"/>
                        <a:sym typeface="Times New Roman"/>
                      </a:endParaRPr>
                    </a:p>
                  </a:txBody>
                  <a:tcPr marL="0" marR="0" marT="628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62A437"/>
                    </a:solidFill>
                  </a:tcPr>
                </a:tc>
                <a:tc>
                  <a:txBody>
                    <a:bodyPr/>
                    <a:lstStyle/>
                    <a:p>
                      <a:pPr marL="0" marR="0" lvl="0" indent="0" algn="ctr" rtl="0">
                        <a:lnSpc>
                          <a:spcPct val="100000"/>
                        </a:lnSpc>
                        <a:spcBef>
                          <a:spcPts val="0"/>
                        </a:spcBef>
                        <a:spcAft>
                          <a:spcPts val="0"/>
                        </a:spcAft>
                        <a:buNone/>
                      </a:pPr>
                      <a:r>
                        <a:rPr lang="en-US" sz="1600" b="1" u="none" strike="noStrike" cap="none">
                          <a:solidFill>
                            <a:srgbClr val="FFFFFF"/>
                          </a:solidFill>
                          <a:latin typeface="Times New Roman"/>
                          <a:ea typeface="Times New Roman"/>
                          <a:cs typeface="Times New Roman"/>
                          <a:sym typeface="Times New Roman"/>
                        </a:rPr>
                        <a:t>Title</a:t>
                      </a:r>
                      <a:endParaRPr sz="1600" u="none" strike="noStrike" cap="none">
                        <a:latin typeface="Times New Roman"/>
                        <a:ea typeface="Times New Roman"/>
                        <a:cs typeface="Times New Roman"/>
                        <a:sym typeface="Times New Roman"/>
                      </a:endParaRPr>
                    </a:p>
                  </a:txBody>
                  <a:tcPr marL="0" marR="0" marT="185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62A437"/>
                    </a:solidFill>
                  </a:tcPr>
                </a:tc>
                <a:tc>
                  <a:txBody>
                    <a:bodyPr/>
                    <a:lstStyle/>
                    <a:p>
                      <a:pPr marL="374015" marR="0" lvl="0" indent="0" algn="l" rtl="0">
                        <a:lnSpc>
                          <a:spcPct val="100000"/>
                        </a:lnSpc>
                        <a:spcBef>
                          <a:spcPts val="0"/>
                        </a:spcBef>
                        <a:spcAft>
                          <a:spcPts val="0"/>
                        </a:spcAft>
                        <a:buNone/>
                      </a:pPr>
                      <a:r>
                        <a:rPr lang="en-US" sz="1600" b="1" u="none" strike="noStrike" cap="none" dirty="0">
                          <a:solidFill>
                            <a:srgbClr val="FFFFFF"/>
                          </a:solidFill>
                          <a:latin typeface="Times New Roman"/>
                          <a:ea typeface="Times New Roman"/>
                          <a:cs typeface="Times New Roman"/>
                          <a:sym typeface="Times New Roman"/>
                        </a:rPr>
                        <a:t>Author</a:t>
                      </a:r>
                      <a:endParaRPr sz="1600" u="none" strike="noStrike" cap="none" dirty="0">
                        <a:latin typeface="Times New Roman"/>
                        <a:ea typeface="Times New Roman"/>
                        <a:cs typeface="Times New Roman"/>
                        <a:sym typeface="Times New Roman"/>
                      </a:endParaRPr>
                    </a:p>
                  </a:txBody>
                  <a:tcPr marL="0" marR="0" marT="185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62A437"/>
                    </a:solidFill>
                  </a:tcPr>
                </a:tc>
                <a:tc>
                  <a:txBody>
                    <a:bodyPr/>
                    <a:lstStyle/>
                    <a:p>
                      <a:pPr marL="809625" marR="692785" lvl="0" indent="-105409" algn="l" rtl="0">
                        <a:lnSpc>
                          <a:spcPct val="100000"/>
                        </a:lnSpc>
                        <a:spcBef>
                          <a:spcPts val="0"/>
                        </a:spcBef>
                        <a:spcAft>
                          <a:spcPts val="0"/>
                        </a:spcAft>
                        <a:buNone/>
                      </a:pPr>
                      <a:r>
                        <a:rPr lang="en-US" sz="1600" b="1" u="none" strike="noStrike" cap="none">
                          <a:solidFill>
                            <a:srgbClr val="FFFFFF"/>
                          </a:solidFill>
                          <a:latin typeface="Times New Roman"/>
                          <a:ea typeface="Times New Roman"/>
                          <a:cs typeface="Times New Roman"/>
                          <a:sym typeface="Times New Roman"/>
                        </a:rPr>
                        <a:t>Publisher  &amp; Year</a:t>
                      </a:r>
                      <a:endParaRPr sz="1600" u="none" strike="noStrike" cap="none">
                        <a:latin typeface="Times New Roman"/>
                        <a:ea typeface="Times New Roman"/>
                        <a:cs typeface="Times New Roman"/>
                        <a:sym typeface="Times New Roman"/>
                      </a:endParaRPr>
                    </a:p>
                  </a:txBody>
                  <a:tcPr marL="0" marR="0" marT="628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62A437"/>
                    </a:solidFill>
                  </a:tcPr>
                </a:tc>
                <a:tc>
                  <a:txBody>
                    <a:bodyPr/>
                    <a:lstStyle/>
                    <a:p>
                      <a:pPr marL="635" marR="0" lvl="0" indent="0" algn="ctr" rtl="0">
                        <a:lnSpc>
                          <a:spcPct val="100000"/>
                        </a:lnSpc>
                        <a:spcBef>
                          <a:spcPts val="0"/>
                        </a:spcBef>
                        <a:spcAft>
                          <a:spcPts val="0"/>
                        </a:spcAft>
                        <a:buNone/>
                      </a:pPr>
                      <a:r>
                        <a:rPr lang="en-US" sz="1600" b="1" u="none" strike="noStrike" cap="none" dirty="0">
                          <a:solidFill>
                            <a:srgbClr val="FFFFFF"/>
                          </a:solidFill>
                          <a:latin typeface="Times New Roman"/>
                          <a:ea typeface="Times New Roman"/>
                          <a:cs typeface="Times New Roman"/>
                          <a:sym typeface="Times New Roman"/>
                        </a:rPr>
                        <a:t>Summary</a:t>
                      </a:r>
                      <a:endParaRPr sz="1600" u="none" strike="noStrike" cap="none" dirty="0">
                        <a:latin typeface="Times New Roman"/>
                        <a:ea typeface="Times New Roman"/>
                        <a:cs typeface="Times New Roman"/>
                        <a:sym typeface="Times New Roman"/>
                      </a:endParaRPr>
                    </a:p>
                  </a:txBody>
                  <a:tcPr marL="0" marR="0" marT="185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62A437"/>
                    </a:solidFill>
                  </a:tcPr>
                </a:tc>
                <a:extLst>
                  <a:ext uri="{0D108BD9-81ED-4DB2-BD59-A6C34878D82A}">
                    <a16:rowId xmlns:a16="http://schemas.microsoft.com/office/drawing/2014/main" val="10000"/>
                  </a:ext>
                </a:extLst>
              </a:tr>
              <a:tr h="2923245">
                <a:tc>
                  <a:txBody>
                    <a:bodyPr/>
                    <a:lstStyle/>
                    <a:p>
                      <a:pPr marL="0" marR="0" lvl="0" indent="0" algn="l" rtl="0">
                        <a:lnSpc>
                          <a:spcPct val="100000"/>
                        </a:lnSpc>
                        <a:spcBef>
                          <a:spcPts val="0"/>
                        </a:spcBef>
                        <a:spcAft>
                          <a:spcPts val="0"/>
                        </a:spcAft>
                        <a:buNone/>
                      </a:pPr>
                      <a:endParaRPr sz="17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700" u="none" strike="noStrike" cap="none" dirty="0">
                        <a:latin typeface="Times New Roman"/>
                        <a:ea typeface="Times New Roman"/>
                        <a:cs typeface="Times New Roman"/>
                        <a:sym typeface="Times New Roman"/>
                      </a:endParaRPr>
                    </a:p>
                    <a:p>
                      <a:pPr marL="67945" marR="0" lvl="0" indent="0" algn="l" rtl="0">
                        <a:lnSpc>
                          <a:spcPct val="100000"/>
                        </a:lnSpc>
                        <a:spcBef>
                          <a:spcPts val="1115"/>
                        </a:spcBef>
                        <a:spcAft>
                          <a:spcPts val="0"/>
                        </a:spcAft>
                        <a:buNone/>
                      </a:pPr>
                      <a:r>
                        <a:rPr lang="en-US" sz="1600" u="none" strike="noStrike" cap="none" dirty="0">
                          <a:latin typeface="Times New Roman"/>
                          <a:ea typeface="Times New Roman"/>
                          <a:cs typeface="Times New Roman"/>
                          <a:sym typeface="Times New Roman"/>
                        </a:rPr>
                        <a:t>1</a:t>
                      </a:r>
                      <a:endParaRPr sz="16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0D4"/>
                    </a:solidFill>
                  </a:tcPr>
                </a:tc>
                <a:tc>
                  <a:txBody>
                    <a:bodyPr/>
                    <a:lstStyle/>
                    <a:p>
                      <a:pPr marL="0" marR="0" lvl="0" indent="0" algn="l" rtl="0">
                        <a:lnSpc>
                          <a:spcPct val="100000"/>
                        </a:lnSpc>
                        <a:spcBef>
                          <a:spcPts val="0"/>
                        </a:spcBef>
                        <a:spcAft>
                          <a:spcPts val="0"/>
                        </a:spcAft>
                        <a:buNone/>
                      </a:pPr>
                      <a:r>
                        <a:rPr lang="en-US" sz="1600" u="none" strike="noStrike" cap="none" dirty="0">
                          <a:latin typeface="Times New Roman"/>
                          <a:ea typeface="Times New Roman"/>
                          <a:cs typeface="Times New Roman"/>
                          <a:sym typeface="Times New Roman"/>
                        </a:rPr>
                        <a:t>An Empirical Study on Developing Stacking</a:t>
                      </a:r>
                    </a:p>
                    <a:p>
                      <a:pPr marL="0" marR="0" lvl="0" indent="0" algn="l" rtl="0">
                        <a:lnSpc>
                          <a:spcPct val="100000"/>
                        </a:lnSpc>
                        <a:spcBef>
                          <a:spcPts val="0"/>
                        </a:spcBef>
                        <a:spcAft>
                          <a:spcPts val="0"/>
                        </a:spcAft>
                        <a:buNone/>
                      </a:pPr>
                      <a:r>
                        <a:rPr lang="en-US" sz="1600" u="none" strike="noStrike" cap="none" dirty="0">
                          <a:latin typeface="Times New Roman"/>
                          <a:ea typeface="Times New Roman"/>
                          <a:cs typeface="Times New Roman"/>
                          <a:sym typeface="Times New Roman"/>
                        </a:rPr>
                        <a:t>Ensemble Model for Bangla Sports Sentiment</a:t>
                      </a:r>
                    </a:p>
                    <a:p>
                      <a:pPr marL="0" marR="0" lvl="0" indent="0" algn="l" rtl="0">
                        <a:lnSpc>
                          <a:spcPct val="100000"/>
                        </a:lnSpc>
                        <a:spcBef>
                          <a:spcPts val="0"/>
                        </a:spcBef>
                        <a:spcAft>
                          <a:spcPts val="0"/>
                        </a:spcAft>
                        <a:buNone/>
                      </a:pPr>
                      <a:r>
                        <a:rPr lang="en-US" sz="1600" u="none" strike="noStrike" cap="none" dirty="0">
                          <a:latin typeface="Times New Roman"/>
                          <a:ea typeface="Times New Roman"/>
                          <a:cs typeface="Times New Roman"/>
                          <a:sym typeface="Times New Roman"/>
                        </a:rPr>
                        <a:t>Analysis</a:t>
                      </a:r>
                      <a:endParaRPr sz="1600" u="none" strike="noStrike" cap="none" dirty="0">
                        <a:latin typeface="Times New Roman"/>
                        <a:ea typeface="Times New Roman"/>
                        <a:cs typeface="Times New Roman"/>
                        <a:sym typeface="Times New Roman"/>
                      </a:endParaRPr>
                    </a:p>
                  </a:txBody>
                  <a:tcPr marL="0" marR="0" marT="255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0D4"/>
                    </a:solidFill>
                  </a:tcPr>
                </a:tc>
                <a:tc>
                  <a:txBody>
                    <a:bodyPr/>
                    <a:lstStyle/>
                    <a:p>
                      <a:pPr marL="0" marR="0" lvl="0" indent="0" algn="l" rtl="0">
                        <a:lnSpc>
                          <a:spcPct val="100000"/>
                        </a:lnSpc>
                        <a:spcBef>
                          <a:spcPts val="0"/>
                        </a:spcBef>
                        <a:spcAft>
                          <a:spcPts val="0"/>
                        </a:spcAft>
                        <a:buNone/>
                      </a:pPr>
                      <a:r>
                        <a:rPr lang="en-US" sz="1600" u="none" strike="noStrike" cap="none" dirty="0">
                          <a:latin typeface="Times New Roman"/>
                          <a:ea typeface="Times New Roman"/>
                          <a:cs typeface="Times New Roman"/>
                          <a:sym typeface="Times New Roman"/>
                        </a:rPr>
                        <a:t>Kamrul et al.</a:t>
                      </a:r>
                      <a:endParaRPr sz="1600" u="none" strike="noStrike" cap="none" dirty="0">
                        <a:latin typeface="Times New Roman"/>
                        <a:ea typeface="Times New Roman"/>
                        <a:cs typeface="Times New Roman"/>
                        <a:sym typeface="Times New Roman"/>
                      </a:endParaRPr>
                    </a:p>
                  </a:txBody>
                  <a:tcPr marL="0" marR="0" marT="625"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0D4"/>
                    </a:solidFill>
                  </a:tcPr>
                </a:tc>
                <a:tc>
                  <a:txBody>
                    <a:bodyPr/>
                    <a:lstStyle/>
                    <a:p>
                      <a:pPr marL="68580" marR="784225" lvl="0" indent="0" algn="l" rtl="0">
                        <a:lnSpc>
                          <a:spcPct val="107500"/>
                        </a:lnSpc>
                        <a:spcBef>
                          <a:spcPts val="0"/>
                        </a:spcBef>
                        <a:spcAft>
                          <a:spcPts val="0"/>
                        </a:spcAft>
                        <a:buNone/>
                      </a:pPr>
                      <a:r>
                        <a:rPr lang="en-US" sz="1600" b="1" u="none" strike="noStrike" cap="none" dirty="0">
                          <a:latin typeface="Times New Roman"/>
                          <a:ea typeface="Times New Roman"/>
                          <a:cs typeface="Times New Roman"/>
                          <a:sym typeface="Times New Roman"/>
                        </a:rPr>
                        <a:t>Publisher</a:t>
                      </a:r>
                      <a:r>
                        <a:rPr lang="en-US" sz="1600" b="0" u="none" strike="noStrike" cap="none" dirty="0">
                          <a:latin typeface="Times New Roman"/>
                          <a:ea typeface="Times New Roman"/>
                          <a:cs typeface="Times New Roman"/>
                          <a:sym typeface="Times New Roman"/>
                        </a:rPr>
                        <a:t> : IEEE </a:t>
                      </a:r>
                    </a:p>
                    <a:p>
                      <a:pPr marL="68580" marR="784225" lvl="0" indent="0" algn="l" rtl="0">
                        <a:lnSpc>
                          <a:spcPct val="107500"/>
                        </a:lnSpc>
                        <a:spcBef>
                          <a:spcPts val="0"/>
                        </a:spcBef>
                        <a:spcAft>
                          <a:spcPts val="0"/>
                        </a:spcAft>
                        <a:buNone/>
                      </a:pPr>
                      <a:r>
                        <a:rPr lang="en-US" sz="1600" b="1" u="none" strike="noStrike" cap="none" dirty="0">
                          <a:latin typeface="Times New Roman"/>
                          <a:ea typeface="Times New Roman"/>
                          <a:cs typeface="Times New Roman"/>
                          <a:sym typeface="Times New Roman"/>
                        </a:rPr>
                        <a:t>Year</a:t>
                      </a:r>
                      <a:r>
                        <a:rPr lang="en-US" sz="1600" b="0" u="none" strike="noStrike" cap="none" dirty="0">
                          <a:latin typeface="Times New Roman"/>
                          <a:ea typeface="Times New Roman"/>
                          <a:cs typeface="Times New Roman"/>
                          <a:sym typeface="Times New Roman"/>
                        </a:rPr>
                        <a:t>: 2024</a:t>
                      </a:r>
                    </a:p>
                    <a:p>
                      <a:pPr marL="68580" marR="784225" lvl="0" indent="0" algn="l" rtl="0">
                        <a:lnSpc>
                          <a:spcPct val="107500"/>
                        </a:lnSpc>
                        <a:spcBef>
                          <a:spcPts val="0"/>
                        </a:spcBef>
                        <a:spcAft>
                          <a:spcPts val="0"/>
                        </a:spcAft>
                        <a:buNone/>
                      </a:pPr>
                      <a:endParaRPr sz="2450" b="0" u="none" strike="noStrike" cap="none" dirty="0">
                        <a:latin typeface="Times New Roman"/>
                        <a:ea typeface="Times New Roman"/>
                        <a:cs typeface="Times New Roman"/>
                        <a:sym typeface="Times New Roman"/>
                      </a:endParaRPr>
                    </a:p>
                  </a:txBody>
                  <a:tcPr marL="0" marR="0" marT="625"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0D4"/>
                    </a:solidFill>
                  </a:tcPr>
                </a:tc>
                <a:tc>
                  <a:txBody>
                    <a:bodyPr/>
                    <a:lstStyle/>
                    <a:p>
                      <a:pPr marL="69215" marR="0" lvl="0" indent="0" algn="l" rtl="0">
                        <a:lnSpc>
                          <a:spcPct val="100000"/>
                        </a:lnSpc>
                        <a:spcBef>
                          <a:spcPts val="0"/>
                        </a:spcBef>
                        <a:spcAft>
                          <a:spcPts val="0"/>
                        </a:spcAft>
                        <a:buNone/>
                      </a:pPr>
                      <a:r>
                        <a:rPr lang="en-US" sz="1600" b="1" u="none" strike="noStrike" cap="none" dirty="0">
                          <a:latin typeface="Times New Roman"/>
                          <a:ea typeface="Times New Roman"/>
                          <a:cs typeface="Times New Roman"/>
                          <a:sym typeface="Times New Roman"/>
                        </a:rPr>
                        <a:t>Dataset</a:t>
                      </a:r>
                      <a:r>
                        <a:rPr lang="en-US" sz="1600" u="none" strike="noStrike" cap="none" dirty="0">
                          <a:latin typeface="Times New Roman"/>
                          <a:ea typeface="Times New Roman"/>
                          <a:cs typeface="Times New Roman"/>
                          <a:sym typeface="Times New Roman"/>
                        </a:rPr>
                        <a:t>: Bangla Sports Sentiment Dataset</a:t>
                      </a:r>
                    </a:p>
                    <a:p>
                      <a:pPr marL="69215" marR="0" lvl="0" indent="0" algn="l" rtl="0">
                        <a:lnSpc>
                          <a:spcPct val="100000"/>
                        </a:lnSpc>
                        <a:spcBef>
                          <a:spcPts val="0"/>
                        </a:spcBef>
                        <a:spcAft>
                          <a:spcPts val="0"/>
                        </a:spcAft>
                        <a:buNone/>
                      </a:pPr>
                      <a:r>
                        <a:rPr lang="en-US" sz="1600" b="1" u="none" strike="noStrike" cap="none" dirty="0">
                          <a:latin typeface="Times New Roman"/>
                          <a:ea typeface="Times New Roman"/>
                          <a:cs typeface="Times New Roman"/>
                          <a:sym typeface="Times New Roman"/>
                        </a:rPr>
                        <a:t>Algorithm</a:t>
                      </a:r>
                      <a:r>
                        <a:rPr lang="en-US" sz="1600" u="none" strike="noStrike" cap="none" dirty="0">
                          <a:latin typeface="Times New Roman"/>
                          <a:ea typeface="Times New Roman"/>
                          <a:cs typeface="Times New Roman"/>
                          <a:sym typeface="Times New Roman"/>
                        </a:rPr>
                        <a:t>: Random Forest, Multinomial Naive Bayes,</a:t>
                      </a:r>
                    </a:p>
                    <a:p>
                      <a:pPr marL="69215" marR="0" lvl="0" indent="0" algn="l" rtl="0">
                        <a:lnSpc>
                          <a:spcPct val="100000"/>
                        </a:lnSpc>
                        <a:spcBef>
                          <a:spcPts val="0"/>
                        </a:spcBef>
                        <a:spcAft>
                          <a:spcPts val="0"/>
                        </a:spcAft>
                        <a:buNone/>
                      </a:pPr>
                      <a:r>
                        <a:rPr lang="en-US" sz="1600" u="none" strike="noStrike" cap="none" dirty="0">
                          <a:latin typeface="Times New Roman"/>
                          <a:ea typeface="Times New Roman"/>
                          <a:cs typeface="Times New Roman"/>
                          <a:sym typeface="Times New Roman"/>
                        </a:rPr>
                        <a:t>K-Nearest Neighbors , </a:t>
                      </a:r>
                      <a:r>
                        <a:rPr lang="en-US" sz="1600" u="none" strike="noStrike" cap="none" dirty="0" err="1">
                          <a:latin typeface="Times New Roman"/>
                          <a:ea typeface="Times New Roman"/>
                          <a:cs typeface="Times New Roman"/>
                          <a:sym typeface="Times New Roman"/>
                        </a:rPr>
                        <a:t>CNN,TNN,Stacking</a:t>
                      </a:r>
                      <a:r>
                        <a:rPr lang="en-US" sz="1600" u="none" strike="noStrike" cap="none" dirty="0">
                          <a:latin typeface="Times New Roman"/>
                          <a:ea typeface="Times New Roman"/>
                          <a:cs typeface="Times New Roman"/>
                          <a:sym typeface="Times New Roman"/>
                        </a:rPr>
                        <a:t> Ensemble (RF + CNN + TNN)</a:t>
                      </a:r>
                    </a:p>
                    <a:p>
                      <a:pPr marL="69215" marR="0" lvl="0" indent="0" algn="l" rtl="0">
                        <a:lnSpc>
                          <a:spcPct val="100000"/>
                        </a:lnSpc>
                        <a:spcBef>
                          <a:spcPts val="130"/>
                        </a:spcBef>
                        <a:spcAft>
                          <a:spcPts val="0"/>
                        </a:spcAft>
                        <a:buNone/>
                      </a:pPr>
                      <a:r>
                        <a:rPr lang="en-US" sz="1600" b="1" u="none" strike="noStrike" cap="none" dirty="0">
                          <a:latin typeface="Times New Roman"/>
                          <a:ea typeface="Times New Roman"/>
                          <a:cs typeface="Times New Roman"/>
                          <a:sym typeface="Times New Roman"/>
                        </a:rPr>
                        <a:t>Result</a:t>
                      </a:r>
                      <a:r>
                        <a:rPr lang="en-US" sz="1600" u="none" strike="noStrike" cap="none" dirty="0">
                          <a:latin typeface="Times New Roman"/>
                          <a:ea typeface="Times New Roman"/>
                          <a:cs typeface="Times New Roman"/>
                          <a:sym typeface="Times New Roman"/>
                        </a:rPr>
                        <a:t>: 81% accuracy</a:t>
                      </a:r>
                    </a:p>
                    <a:p>
                      <a:r>
                        <a:rPr lang="en-US" sz="1600" b="1" u="none" strike="noStrike" cap="none" dirty="0" err="1">
                          <a:latin typeface="Times New Roman"/>
                          <a:ea typeface="Times New Roman"/>
                          <a:cs typeface="Times New Roman"/>
                          <a:sym typeface="Times New Roman"/>
                        </a:rPr>
                        <a:t>Findings</a:t>
                      </a:r>
                      <a:r>
                        <a:rPr lang="en-US" sz="1600" u="none" strike="noStrike" cap="none" dirty="0" err="1">
                          <a:latin typeface="Times New Roman" panose="02020603050405020304" pitchFamily="18" charset="0"/>
                          <a:ea typeface="Times New Roman"/>
                          <a:cs typeface="Times New Roman" panose="02020603050405020304" pitchFamily="18" charset="0"/>
                          <a:sym typeface="Times New Roman"/>
                        </a:rPr>
                        <a:t>:</a:t>
                      </a:r>
                      <a:r>
                        <a:rPr lang="en-US" sz="1600" dirty="0" err="1">
                          <a:latin typeface="Times New Roman" panose="02020603050405020304" pitchFamily="18" charset="0"/>
                          <a:cs typeface="Times New Roman" panose="02020603050405020304" pitchFamily="18" charset="0"/>
                        </a:rPr>
                        <a:t>Stacking</a:t>
                      </a:r>
                      <a:r>
                        <a:rPr lang="en-US" sz="1600" dirty="0">
                          <a:latin typeface="Times New Roman" panose="02020603050405020304" pitchFamily="18" charset="0"/>
                          <a:cs typeface="Times New Roman" panose="02020603050405020304" pitchFamily="18" charset="0"/>
                        </a:rPr>
                        <a:t> ensemble achieved 81% accuracy and 0.82 F1-score by combining ML (MNB, RF, KNN) and DL (CNN, TNN) models, performing best on informal Bangla sports YouTube comments with code-mixing across cricket, football, and traditional games</a:t>
                      </a:r>
                      <a:r>
                        <a:rPr lang="en-US" sz="1600" dirty="0"/>
                        <a:t>.</a:t>
                      </a:r>
                    </a:p>
                    <a:p>
                      <a:pPr marL="69215" marR="525780" lvl="0" indent="0" algn="l" rtl="0">
                        <a:lnSpc>
                          <a:spcPct val="128125"/>
                        </a:lnSpc>
                        <a:spcBef>
                          <a:spcPts val="90"/>
                        </a:spcBef>
                        <a:spcAft>
                          <a:spcPts val="0"/>
                        </a:spcAft>
                        <a:buNone/>
                      </a:pPr>
                      <a:endParaRPr lang="en-US" sz="16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1162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0D4"/>
                    </a:solidFill>
                  </a:tcPr>
                </a:tc>
                <a:extLst>
                  <a:ext uri="{0D108BD9-81ED-4DB2-BD59-A6C34878D82A}">
                    <a16:rowId xmlns:a16="http://schemas.microsoft.com/office/drawing/2014/main" val="10001"/>
                  </a:ext>
                </a:extLst>
              </a:tr>
              <a:tr h="2275352">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p>
                      <a:pPr marL="0" marR="0" lvl="0" indent="0" algn="l" rtl="0">
                        <a:lnSpc>
                          <a:spcPct val="100000"/>
                        </a:lnSpc>
                        <a:spcBef>
                          <a:spcPts val="45"/>
                        </a:spcBef>
                        <a:spcAft>
                          <a:spcPts val="0"/>
                        </a:spcAft>
                        <a:buNone/>
                      </a:pPr>
                      <a:endParaRPr sz="1350" u="none" strike="noStrike" cap="none">
                        <a:latin typeface="Times New Roman"/>
                        <a:ea typeface="Times New Roman"/>
                        <a:cs typeface="Times New Roman"/>
                        <a:sym typeface="Times New Roman"/>
                      </a:endParaRPr>
                    </a:p>
                    <a:p>
                      <a:pPr marL="67945" marR="0" lvl="0" indent="0" algn="l" rtl="0">
                        <a:lnSpc>
                          <a:spcPct val="100000"/>
                        </a:lnSpc>
                        <a:spcBef>
                          <a:spcPts val="0"/>
                        </a:spcBef>
                        <a:spcAft>
                          <a:spcPts val="0"/>
                        </a:spcAft>
                        <a:buNone/>
                      </a:pPr>
                      <a:r>
                        <a:rPr lang="en-US" sz="1600" u="none" strike="noStrike" cap="none">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0EB"/>
                    </a:solidFill>
                  </a:tcPr>
                </a:tc>
                <a:tc>
                  <a:txBody>
                    <a:bodyPr/>
                    <a:lstStyle/>
                    <a:p>
                      <a:pPr marL="68580" marR="387985" lvl="0" indent="0" algn="l" rtl="0">
                        <a:lnSpc>
                          <a:spcPct val="107100"/>
                        </a:lnSpc>
                        <a:spcBef>
                          <a:spcPts val="0"/>
                        </a:spcBef>
                        <a:spcAft>
                          <a:spcPts val="0"/>
                        </a:spcAft>
                        <a:buNone/>
                      </a:pPr>
                      <a:r>
                        <a:rPr lang="en-US" sz="1600" u="none" strike="noStrike" cap="none" dirty="0">
                          <a:latin typeface="Times New Roman"/>
                          <a:ea typeface="Times New Roman"/>
                          <a:cs typeface="Times New Roman"/>
                          <a:sym typeface="Times New Roman"/>
                        </a:rPr>
                        <a:t>Twitter Sentiment Analysis  Towards Qatar as Host of  the 2022 World Cup Using  </a:t>
                      </a:r>
                      <a:r>
                        <a:rPr lang="en-US" sz="1600" u="none" strike="noStrike" cap="none" dirty="0" err="1">
                          <a:latin typeface="Times New Roman"/>
                          <a:ea typeface="Times New Roman"/>
                          <a:cs typeface="Times New Roman"/>
                          <a:sym typeface="Times New Roman"/>
                        </a:rPr>
                        <a:t>Textblob</a:t>
                      </a:r>
                      <a:endParaRPr lang="en-US" sz="1600" u="none" strike="noStrike" cap="none" dirty="0">
                        <a:latin typeface="Times New Roman"/>
                        <a:ea typeface="Times New Roman"/>
                        <a:cs typeface="Times New Roman"/>
                        <a:sym typeface="Times New Roman"/>
                      </a:endParaRPr>
                    </a:p>
                    <a:p>
                      <a:pPr marL="68580" marR="387985" lvl="0" indent="0" algn="l" rtl="0">
                        <a:lnSpc>
                          <a:spcPct val="107100"/>
                        </a:lnSpc>
                        <a:spcBef>
                          <a:spcPts val="0"/>
                        </a:spcBef>
                        <a:spcAft>
                          <a:spcPts val="0"/>
                        </a:spcAft>
                        <a:buNone/>
                      </a:pPr>
                      <a:endParaRPr sz="1600" u="none" strike="noStrike" cap="none" dirty="0">
                        <a:latin typeface="Times New Roman"/>
                        <a:ea typeface="Times New Roman"/>
                        <a:cs typeface="Times New Roman"/>
                        <a:sym typeface="Times New Roman"/>
                      </a:endParaRPr>
                    </a:p>
                  </a:txBody>
                  <a:tcPr marL="0" marR="0" marT="160025"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0EB"/>
                    </a:solidFill>
                  </a:tcPr>
                </a:tc>
                <a:tc>
                  <a:txBody>
                    <a:bodyPr/>
                    <a:lstStyle/>
                    <a:p>
                      <a:pPr marL="0" marR="0" lvl="0" indent="0" algn="l" rtl="0">
                        <a:lnSpc>
                          <a:spcPct val="100000"/>
                        </a:lnSpc>
                        <a:spcBef>
                          <a:spcPts val="0"/>
                        </a:spcBef>
                        <a:spcAft>
                          <a:spcPts val="0"/>
                        </a:spcAft>
                        <a:buNone/>
                      </a:pPr>
                      <a:endParaRPr sz="1700" u="none" strike="noStrike" cap="none" dirty="0">
                        <a:latin typeface="Times New Roman"/>
                        <a:ea typeface="Times New Roman"/>
                        <a:cs typeface="Times New Roman"/>
                        <a:sym typeface="Times New Roman"/>
                      </a:endParaRPr>
                    </a:p>
                    <a:p>
                      <a:pPr marL="0" marR="0" lvl="0" indent="0" algn="l" rtl="0">
                        <a:lnSpc>
                          <a:spcPct val="100000"/>
                        </a:lnSpc>
                        <a:spcBef>
                          <a:spcPts val="50"/>
                        </a:spcBef>
                        <a:spcAft>
                          <a:spcPts val="0"/>
                        </a:spcAft>
                        <a:buNone/>
                      </a:pPr>
                      <a:r>
                        <a:rPr lang="en-US" sz="1600" u="none" strike="noStrike" cap="none" dirty="0">
                          <a:latin typeface="Times New Roman"/>
                          <a:ea typeface="Times New Roman"/>
                          <a:cs typeface="Times New Roman"/>
                          <a:sym typeface="Times New Roman"/>
                        </a:rPr>
                        <a:t>Dewi et al.</a:t>
                      </a:r>
                    </a:p>
                    <a:p>
                      <a:pPr marL="0" marR="0" lvl="0" indent="0" algn="l" rtl="0">
                        <a:lnSpc>
                          <a:spcPct val="100000"/>
                        </a:lnSpc>
                        <a:spcBef>
                          <a:spcPts val="50"/>
                        </a:spcBef>
                        <a:spcAft>
                          <a:spcPts val="0"/>
                        </a:spcAft>
                        <a:buNone/>
                      </a:pPr>
                      <a:endParaRPr sz="16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0EB"/>
                    </a:solidFill>
                  </a:tcPr>
                </a:tc>
                <a:tc>
                  <a:txBody>
                    <a:bodyPr/>
                    <a:lstStyle/>
                    <a:p>
                      <a:pPr marL="68580" marR="121920" lvl="0" indent="0" algn="l" rtl="0">
                        <a:lnSpc>
                          <a:spcPct val="107000"/>
                        </a:lnSpc>
                        <a:spcBef>
                          <a:spcPts val="0"/>
                        </a:spcBef>
                        <a:spcAft>
                          <a:spcPts val="0"/>
                        </a:spcAft>
                        <a:buNone/>
                      </a:pPr>
                      <a:r>
                        <a:rPr lang="en-US" sz="1600" b="1" u="none" strike="noStrike" cap="none" dirty="0">
                          <a:latin typeface="Times New Roman"/>
                          <a:ea typeface="Times New Roman"/>
                          <a:cs typeface="Times New Roman"/>
                          <a:sym typeface="Times New Roman"/>
                        </a:rPr>
                        <a:t>Publisher</a:t>
                      </a:r>
                      <a:r>
                        <a:rPr lang="en-US" sz="1600" b="0" u="none" strike="noStrike" cap="none" dirty="0">
                          <a:latin typeface="Times New Roman"/>
                          <a:ea typeface="Times New Roman"/>
                          <a:cs typeface="Times New Roman"/>
                          <a:sym typeface="Times New Roman"/>
                        </a:rPr>
                        <a:t> : </a:t>
                      </a:r>
                      <a:r>
                        <a:rPr lang="en-US" sz="1600" dirty="0">
                          <a:latin typeface="Times New Roman" panose="02020603050405020304" pitchFamily="18" charset="0"/>
                          <a:cs typeface="Times New Roman" panose="02020603050405020304" pitchFamily="18" charset="0"/>
                        </a:rPr>
                        <a:t>CV </a:t>
                      </a:r>
                      <a:r>
                        <a:rPr lang="en-US" sz="1600" i="1" dirty="0">
                          <a:latin typeface="Times New Roman" panose="02020603050405020304" pitchFamily="18" charset="0"/>
                          <a:cs typeface="Times New Roman" panose="02020603050405020304" pitchFamily="18" charset="0"/>
                        </a:rPr>
                        <a:t>International Journal Labs</a:t>
                      </a:r>
                    </a:p>
                    <a:p>
                      <a:pPr marL="68580" marR="121920" lvl="0" indent="0" algn="l" rtl="0">
                        <a:lnSpc>
                          <a:spcPct val="107000"/>
                        </a:lnSpc>
                        <a:spcBef>
                          <a:spcPts val="0"/>
                        </a:spcBef>
                        <a:spcAft>
                          <a:spcPts val="0"/>
                        </a:spcAft>
                        <a:buNone/>
                      </a:pPr>
                      <a:r>
                        <a:rPr lang="en-US" sz="1600" b="1" u="none" strike="noStrike" cap="none" dirty="0">
                          <a:latin typeface="Times New Roman"/>
                          <a:ea typeface="Times New Roman"/>
                          <a:cs typeface="Times New Roman"/>
                          <a:sym typeface="Times New Roman"/>
                        </a:rPr>
                        <a:t>Year</a:t>
                      </a:r>
                      <a:r>
                        <a:rPr lang="en-US" sz="1600" b="0" u="none" strike="noStrike" cap="none" dirty="0">
                          <a:latin typeface="Times New Roman"/>
                          <a:ea typeface="Times New Roman"/>
                          <a:cs typeface="Times New Roman"/>
                          <a:sym typeface="Times New Roman"/>
                        </a:rPr>
                        <a:t>:2023</a:t>
                      </a:r>
                    </a:p>
                    <a:p>
                      <a:pPr marL="68580" marR="121920" lvl="0" indent="0" algn="l" rtl="0">
                        <a:lnSpc>
                          <a:spcPct val="107000"/>
                        </a:lnSpc>
                        <a:spcBef>
                          <a:spcPts val="0"/>
                        </a:spcBef>
                        <a:spcAft>
                          <a:spcPts val="0"/>
                        </a:spcAft>
                        <a:buNone/>
                      </a:pPr>
                      <a:endParaRPr sz="1600" b="0" u="none" strike="noStrike" cap="none" dirty="0">
                        <a:latin typeface="Times New Roman"/>
                        <a:ea typeface="Times New Roman"/>
                        <a:cs typeface="Times New Roman"/>
                        <a:sym typeface="Times New Roman"/>
                      </a:endParaRPr>
                    </a:p>
                  </a:txBody>
                  <a:tcPr marL="0" marR="0" marT="2985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0EB"/>
                    </a:solidFill>
                  </a:tcPr>
                </a:tc>
                <a:tc>
                  <a:txBody>
                    <a:bodyPr/>
                    <a:lstStyle/>
                    <a:p>
                      <a:pPr marL="69215" marR="0" lvl="0" indent="0" algn="l" rtl="0">
                        <a:lnSpc>
                          <a:spcPct val="100000"/>
                        </a:lnSpc>
                        <a:spcBef>
                          <a:spcPts val="0"/>
                        </a:spcBef>
                        <a:spcAft>
                          <a:spcPts val="0"/>
                        </a:spcAft>
                        <a:buNone/>
                      </a:pPr>
                      <a:r>
                        <a:rPr lang="en-US" sz="1600" b="1" u="none" strike="noStrike" cap="none" dirty="0">
                          <a:latin typeface="Times New Roman"/>
                          <a:ea typeface="Times New Roman"/>
                          <a:cs typeface="Times New Roman"/>
                          <a:sym typeface="Times New Roman"/>
                        </a:rPr>
                        <a:t>Dataset</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Selfmade</a:t>
                      </a:r>
                      <a:r>
                        <a:rPr lang="en-US" sz="1600" u="none" strike="noStrike" cap="none" dirty="0">
                          <a:latin typeface="Times New Roman"/>
                          <a:ea typeface="Times New Roman"/>
                          <a:cs typeface="Times New Roman"/>
                          <a:sym typeface="Times New Roman"/>
                        </a:rPr>
                        <a:t>-Private(FIFA 2022 tweet)</a:t>
                      </a:r>
                    </a:p>
                    <a:p>
                      <a:pPr marL="69215" marR="0" lvl="0" indent="0" algn="l" rtl="0">
                        <a:lnSpc>
                          <a:spcPct val="100000"/>
                        </a:lnSpc>
                        <a:spcBef>
                          <a:spcPts val="145"/>
                        </a:spcBef>
                        <a:spcAft>
                          <a:spcPts val="0"/>
                        </a:spcAft>
                        <a:buNone/>
                      </a:pPr>
                      <a:r>
                        <a:rPr lang="en-US" sz="1600" b="1" u="none" strike="noStrike" cap="none" dirty="0">
                          <a:latin typeface="Times New Roman"/>
                          <a:ea typeface="Times New Roman"/>
                          <a:cs typeface="Times New Roman"/>
                          <a:sym typeface="Times New Roman"/>
                        </a:rPr>
                        <a:t>Algorithm</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Textblob</a:t>
                      </a:r>
                      <a:endParaRPr lang="en-US" sz="1600" u="none" strike="noStrike" cap="none" dirty="0">
                        <a:latin typeface="Times New Roman"/>
                        <a:ea typeface="Times New Roman"/>
                        <a:cs typeface="Times New Roman"/>
                        <a:sym typeface="Times New Roman"/>
                      </a:endParaRPr>
                    </a:p>
                    <a:p>
                      <a:pPr marL="69215" marR="0" lvl="0" indent="0" algn="l" rtl="0">
                        <a:lnSpc>
                          <a:spcPct val="100000"/>
                        </a:lnSpc>
                        <a:spcBef>
                          <a:spcPts val="130"/>
                        </a:spcBef>
                        <a:spcAft>
                          <a:spcPts val="0"/>
                        </a:spcAft>
                        <a:buNone/>
                      </a:pPr>
                      <a:r>
                        <a:rPr lang="en-US" sz="1600" b="1" u="none" strike="noStrike" cap="none" dirty="0">
                          <a:latin typeface="Times New Roman"/>
                          <a:ea typeface="Times New Roman"/>
                          <a:cs typeface="Times New Roman"/>
                          <a:sym typeface="Times New Roman"/>
                        </a:rPr>
                        <a:t>Result</a:t>
                      </a:r>
                      <a:r>
                        <a:rPr lang="en-US" sz="1600" u="none" strike="noStrike" cap="none" dirty="0">
                          <a:latin typeface="Times New Roman"/>
                          <a:ea typeface="Times New Roman"/>
                          <a:cs typeface="Times New Roman"/>
                          <a:sym typeface="Times New Roman"/>
                        </a:rPr>
                        <a:t>:</a:t>
                      </a:r>
                      <a:r>
                        <a:rPr lang="en-US" sz="1600" u="none" strike="noStrike" cap="none" dirty="0">
                          <a:latin typeface="Times New Roman" panose="02020603050405020304" pitchFamily="18" charset="0"/>
                          <a:ea typeface="Times New Roman"/>
                          <a:cs typeface="Times New Roman" panose="02020603050405020304" pitchFamily="18" charset="0"/>
                          <a:sym typeface="Times New Roman"/>
                        </a:rPr>
                        <a:t> 84% accuracy</a:t>
                      </a:r>
                    </a:p>
                    <a:p>
                      <a:r>
                        <a:rPr lang="en-US" sz="1600" b="1" u="none" strike="noStrike" cap="none" dirty="0" err="1">
                          <a:latin typeface="Times New Roman" panose="02020603050405020304" pitchFamily="18" charset="0"/>
                          <a:ea typeface="Times New Roman"/>
                          <a:cs typeface="Times New Roman" panose="02020603050405020304" pitchFamily="18" charset="0"/>
                          <a:sym typeface="Times New Roman"/>
                        </a:rPr>
                        <a:t>Findings</a:t>
                      </a:r>
                      <a:r>
                        <a:rPr lang="en-US" sz="1600" u="none" strike="noStrike" cap="none" dirty="0" err="1">
                          <a:latin typeface="Times New Roman" panose="02020603050405020304" pitchFamily="18" charset="0"/>
                          <a:ea typeface="Times New Roman"/>
                          <a:cs typeface="Times New Roman" panose="02020603050405020304" pitchFamily="18" charset="0"/>
                          <a:sym typeface="Times New Roman"/>
                        </a:rPr>
                        <a:t>:</a:t>
                      </a:r>
                      <a:r>
                        <a:rPr lang="en-US" sz="1600" dirty="0" err="1">
                          <a:latin typeface="Times New Roman" panose="02020603050405020304" pitchFamily="18" charset="0"/>
                          <a:cs typeface="Times New Roman" panose="02020603050405020304" pitchFamily="18" charset="0"/>
                        </a:rPr>
                        <a:t>TextBlob</a:t>
                      </a:r>
                      <a:r>
                        <a:rPr lang="en-US" sz="1600" dirty="0">
                          <a:latin typeface="Times New Roman" panose="02020603050405020304" pitchFamily="18" charset="0"/>
                          <a:cs typeface="Times New Roman" panose="02020603050405020304" pitchFamily="18" charset="0"/>
                        </a:rPr>
                        <a:t> achieved 87% accuracy on Qatar World Cup Twitter sentiment, revealing 84% positive opinions through polarity scoring that effectively tracked sentiment shifts across pre-selection, post-selection, and event periods.</a:t>
                      </a:r>
                    </a:p>
                    <a:p>
                      <a:pPr marL="69215" marR="525780" lvl="0" indent="0" algn="l" rtl="0">
                        <a:lnSpc>
                          <a:spcPct val="128125"/>
                        </a:lnSpc>
                        <a:spcBef>
                          <a:spcPts val="90"/>
                        </a:spcBef>
                        <a:spcAft>
                          <a:spcPts val="0"/>
                        </a:spcAft>
                        <a:buNone/>
                      </a:pPr>
                      <a:endParaRPr sz="16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4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0EB"/>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7206B5-AF7C-8605-D378-2FE497B7D57A}"/>
              </a:ext>
            </a:extLst>
          </p:cNvPr>
          <p:cNvSpPr>
            <a:spLocks noGrp="1"/>
          </p:cNvSpPr>
          <p:nvPr>
            <p:ph type="sldNum" idx="12"/>
          </p:nvPr>
        </p:nvSpPr>
        <p:spPr>
          <a:xfrm>
            <a:off x="9008531" y="6637867"/>
            <a:ext cx="2393248" cy="220133"/>
          </a:xfrm>
        </p:spPr>
        <p:txBody>
          <a:bodyPr/>
          <a:lstStyle/>
          <a:p>
            <a:r>
              <a:rPr lang="en-US" sz="1800" b="1" dirty="0">
                <a:solidFill>
                  <a:srgbClr val="171616"/>
                </a:solidFill>
                <a:latin typeface="Times New Roman"/>
                <a:cs typeface="Times New Roman"/>
                <a:sym typeface="Times New Roman"/>
              </a:rPr>
              <a:t>7</a:t>
            </a:r>
            <a:endParaRPr lang="en-US" sz="1800" b="1" dirty="0"/>
          </a:p>
          <a:p>
            <a:pPr marL="0" lvl="0" indent="0" algn="r" rtl="0">
              <a:spcBef>
                <a:spcPts val="0"/>
              </a:spcBef>
              <a:spcAft>
                <a:spcPts val="0"/>
              </a:spcAft>
              <a:buNone/>
            </a:pPr>
            <a:endParaRPr lang="en-US" dirty="0"/>
          </a:p>
        </p:txBody>
      </p:sp>
      <p:graphicFrame>
        <p:nvGraphicFramePr>
          <p:cNvPr id="5" name="Google Shape;138;p7">
            <a:extLst>
              <a:ext uri="{FF2B5EF4-FFF2-40B4-BE49-F238E27FC236}">
                <a16:creationId xmlns:a16="http://schemas.microsoft.com/office/drawing/2014/main" id="{2CD511CF-160F-2904-F8AB-29AD61F4D8BA}"/>
              </a:ext>
            </a:extLst>
          </p:cNvPr>
          <p:cNvGraphicFramePr/>
          <p:nvPr>
            <p:extLst>
              <p:ext uri="{D42A27DB-BD31-4B8C-83A1-F6EECF244321}">
                <p14:modId xmlns:p14="http://schemas.microsoft.com/office/powerpoint/2010/main" val="2269775008"/>
              </p:ext>
            </p:extLst>
          </p:nvPr>
        </p:nvGraphicFramePr>
        <p:xfrm>
          <a:off x="2" y="518098"/>
          <a:ext cx="12191998" cy="5987576"/>
        </p:xfrm>
        <a:graphic>
          <a:graphicData uri="http://schemas.openxmlformats.org/drawingml/2006/table">
            <a:tbl>
              <a:tblPr firstRow="1" bandRow="1">
                <a:noFill/>
                <a:tableStyleId>{A12B2C4A-2641-410F-86F1-3BD795578828}</a:tableStyleId>
              </a:tblPr>
              <a:tblGrid>
                <a:gridCol w="745298">
                  <a:extLst>
                    <a:ext uri="{9D8B030D-6E8A-4147-A177-3AD203B41FA5}">
                      <a16:colId xmlns:a16="http://schemas.microsoft.com/office/drawing/2014/main" val="20000"/>
                    </a:ext>
                  </a:extLst>
                </a:gridCol>
                <a:gridCol w="2257546">
                  <a:extLst>
                    <a:ext uri="{9D8B030D-6E8A-4147-A177-3AD203B41FA5}">
                      <a16:colId xmlns:a16="http://schemas.microsoft.com/office/drawing/2014/main" val="20001"/>
                    </a:ext>
                  </a:extLst>
                </a:gridCol>
                <a:gridCol w="1354667">
                  <a:extLst>
                    <a:ext uri="{9D8B030D-6E8A-4147-A177-3AD203B41FA5}">
                      <a16:colId xmlns:a16="http://schemas.microsoft.com/office/drawing/2014/main" val="20002"/>
                    </a:ext>
                  </a:extLst>
                </a:gridCol>
                <a:gridCol w="2698045">
                  <a:extLst>
                    <a:ext uri="{9D8B030D-6E8A-4147-A177-3AD203B41FA5}">
                      <a16:colId xmlns:a16="http://schemas.microsoft.com/office/drawing/2014/main" val="20003"/>
                    </a:ext>
                  </a:extLst>
                </a:gridCol>
                <a:gridCol w="5136442">
                  <a:extLst>
                    <a:ext uri="{9D8B030D-6E8A-4147-A177-3AD203B41FA5}">
                      <a16:colId xmlns:a16="http://schemas.microsoft.com/office/drawing/2014/main" val="20004"/>
                    </a:ext>
                  </a:extLst>
                </a:gridCol>
              </a:tblGrid>
              <a:tr h="528270">
                <a:tc>
                  <a:txBody>
                    <a:bodyPr/>
                    <a:lstStyle/>
                    <a:p>
                      <a:pPr marL="140335" marR="132715" lvl="0" indent="27304" algn="l" rtl="0">
                        <a:lnSpc>
                          <a:spcPct val="100000"/>
                        </a:lnSpc>
                        <a:spcBef>
                          <a:spcPts val="0"/>
                        </a:spcBef>
                        <a:spcAft>
                          <a:spcPts val="0"/>
                        </a:spcAft>
                        <a:buNone/>
                      </a:pPr>
                      <a:r>
                        <a:rPr lang="en-US" sz="1600" b="1" u="none" strike="noStrike" cap="none">
                          <a:solidFill>
                            <a:srgbClr val="FFFFFF"/>
                          </a:solidFill>
                          <a:latin typeface="Times New Roman"/>
                          <a:ea typeface="Times New Roman"/>
                          <a:cs typeface="Times New Roman"/>
                          <a:sym typeface="Times New Roman"/>
                        </a:rPr>
                        <a:t>SL  NO</a:t>
                      </a:r>
                      <a:endParaRPr sz="1600" u="none" strike="noStrike" cap="none">
                        <a:latin typeface="Times New Roman"/>
                        <a:ea typeface="Times New Roman"/>
                        <a:cs typeface="Times New Roman"/>
                        <a:sym typeface="Times New Roman"/>
                      </a:endParaRPr>
                    </a:p>
                  </a:txBody>
                  <a:tcPr marL="0" marR="0" marT="628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62A437"/>
                    </a:solidFill>
                  </a:tcPr>
                </a:tc>
                <a:tc>
                  <a:txBody>
                    <a:bodyPr/>
                    <a:lstStyle/>
                    <a:p>
                      <a:pPr marL="0" marR="0" lvl="0" indent="0" algn="ctr" rtl="0">
                        <a:lnSpc>
                          <a:spcPct val="100000"/>
                        </a:lnSpc>
                        <a:spcBef>
                          <a:spcPts val="0"/>
                        </a:spcBef>
                        <a:spcAft>
                          <a:spcPts val="0"/>
                        </a:spcAft>
                        <a:buNone/>
                      </a:pPr>
                      <a:r>
                        <a:rPr lang="en-US" sz="1600" b="1" u="none" strike="noStrike" cap="none">
                          <a:solidFill>
                            <a:srgbClr val="FFFFFF"/>
                          </a:solidFill>
                          <a:latin typeface="Times New Roman"/>
                          <a:ea typeface="Times New Roman"/>
                          <a:cs typeface="Times New Roman"/>
                          <a:sym typeface="Times New Roman"/>
                        </a:rPr>
                        <a:t>Title</a:t>
                      </a:r>
                      <a:endParaRPr sz="1600" u="none" strike="noStrike" cap="none">
                        <a:latin typeface="Times New Roman"/>
                        <a:ea typeface="Times New Roman"/>
                        <a:cs typeface="Times New Roman"/>
                        <a:sym typeface="Times New Roman"/>
                      </a:endParaRPr>
                    </a:p>
                  </a:txBody>
                  <a:tcPr marL="0" marR="0" marT="185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62A437"/>
                    </a:solidFill>
                  </a:tcPr>
                </a:tc>
                <a:tc>
                  <a:txBody>
                    <a:bodyPr/>
                    <a:lstStyle/>
                    <a:p>
                      <a:pPr marL="374015" marR="0" lvl="0" indent="0" algn="l" rtl="0">
                        <a:lnSpc>
                          <a:spcPct val="100000"/>
                        </a:lnSpc>
                        <a:spcBef>
                          <a:spcPts val="0"/>
                        </a:spcBef>
                        <a:spcAft>
                          <a:spcPts val="0"/>
                        </a:spcAft>
                        <a:buNone/>
                      </a:pPr>
                      <a:r>
                        <a:rPr lang="en-US" sz="1600" b="1" u="none" strike="noStrike" cap="none" dirty="0">
                          <a:solidFill>
                            <a:srgbClr val="FFFFFF"/>
                          </a:solidFill>
                          <a:latin typeface="Times New Roman"/>
                          <a:ea typeface="Times New Roman"/>
                          <a:cs typeface="Times New Roman"/>
                          <a:sym typeface="Times New Roman"/>
                        </a:rPr>
                        <a:t>Author</a:t>
                      </a:r>
                      <a:endParaRPr sz="1600" u="none" strike="noStrike" cap="none" dirty="0">
                        <a:latin typeface="Times New Roman"/>
                        <a:ea typeface="Times New Roman"/>
                        <a:cs typeface="Times New Roman"/>
                        <a:sym typeface="Times New Roman"/>
                      </a:endParaRPr>
                    </a:p>
                  </a:txBody>
                  <a:tcPr marL="0" marR="0" marT="185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62A437"/>
                    </a:solidFill>
                  </a:tcPr>
                </a:tc>
                <a:tc>
                  <a:txBody>
                    <a:bodyPr/>
                    <a:lstStyle/>
                    <a:p>
                      <a:pPr marL="809625" marR="692785" lvl="0" indent="-105409" algn="l" rtl="0">
                        <a:lnSpc>
                          <a:spcPct val="100000"/>
                        </a:lnSpc>
                        <a:spcBef>
                          <a:spcPts val="0"/>
                        </a:spcBef>
                        <a:spcAft>
                          <a:spcPts val="0"/>
                        </a:spcAft>
                        <a:buNone/>
                      </a:pPr>
                      <a:r>
                        <a:rPr lang="en-US" sz="1600" b="1" u="none" strike="noStrike" cap="none" dirty="0">
                          <a:solidFill>
                            <a:srgbClr val="FFFFFF"/>
                          </a:solidFill>
                          <a:latin typeface="Times New Roman"/>
                          <a:ea typeface="Times New Roman"/>
                          <a:cs typeface="Times New Roman"/>
                          <a:sym typeface="Times New Roman"/>
                        </a:rPr>
                        <a:t>Publisher  &amp; Year</a:t>
                      </a:r>
                      <a:endParaRPr sz="1600" u="none" strike="noStrike" cap="none" dirty="0">
                        <a:latin typeface="Times New Roman"/>
                        <a:ea typeface="Times New Roman"/>
                        <a:cs typeface="Times New Roman"/>
                        <a:sym typeface="Times New Roman"/>
                      </a:endParaRPr>
                    </a:p>
                  </a:txBody>
                  <a:tcPr marL="0" marR="0" marT="628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62A437"/>
                    </a:solidFill>
                  </a:tcPr>
                </a:tc>
                <a:tc>
                  <a:txBody>
                    <a:bodyPr/>
                    <a:lstStyle/>
                    <a:p>
                      <a:pPr marL="635" marR="0" lvl="0" indent="0" algn="ctr" rtl="0">
                        <a:lnSpc>
                          <a:spcPct val="100000"/>
                        </a:lnSpc>
                        <a:spcBef>
                          <a:spcPts val="0"/>
                        </a:spcBef>
                        <a:spcAft>
                          <a:spcPts val="0"/>
                        </a:spcAft>
                        <a:buNone/>
                      </a:pPr>
                      <a:r>
                        <a:rPr lang="en-US" sz="1600" b="1" u="none" strike="noStrike" cap="none" dirty="0">
                          <a:solidFill>
                            <a:srgbClr val="FFFFFF"/>
                          </a:solidFill>
                          <a:latin typeface="Times New Roman"/>
                          <a:ea typeface="Times New Roman"/>
                          <a:cs typeface="Times New Roman"/>
                          <a:sym typeface="Times New Roman"/>
                        </a:rPr>
                        <a:t>Finding</a:t>
                      </a:r>
                      <a:endParaRPr sz="1600" u="none" strike="noStrike" cap="none" dirty="0">
                        <a:latin typeface="Times New Roman"/>
                        <a:ea typeface="Times New Roman"/>
                        <a:cs typeface="Times New Roman"/>
                        <a:sym typeface="Times New Roman"/>
                      </a:endParaRPr>
                    </a:p>
                  </a:txBody>
                  <a:tcPr marL="0" marR="0" marT="185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62A437"/>
                    </a:solidFill>
                  </a:tcPr>
                </a:tc>
                <a:extLst>
                  <a:ext uri="{0D108BD9-81ED-4DB2-BD59-A6C34878D82A}">
                    <a16:rowId xmlns:a16="http://schemas.microsoft.com/office/drawing/2014/main" val="10000"/>
                  </a:ext>
                </a:extLst>
              </a:tr>
              <a:tr h="3195461">
                <a:tc>
                  <a:txBody>
                    <a:bodyPr/>
                    <a:lstStyle/>
                    <a:p>
                      <a:pPr marL="0" marR="0" lvl="0" indent="0" algn="l" rtl="0">
                        <a:lnSpc>
                          <a:spcPct val="100000"/>
                        </a:lnSpc>
                        <a:spcBef>
                          <a:spcPts val="0"/>
                        </a:spcBef>
                        <a:spcAft>
                          <a:spcPts val="0"/>
                        </a:spcAft>
                        <a:buNone/>
                      </a:pPr>
                      <a:endParaRPr sz="17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700" u="none" strike="noStrike" cap="none" dirty="0">
                        <a:latin typeface="Times New Roman"/>
                        <a:ea typeface="Times New Roman"/>
                        <a:cs typeface="Times New Roman"/>
                        <a:sym typeface="Times New Roman"/>
                      </a:endParaRPr>
                    </a:p>
                    <a:p>
                      <a:pPr marL="67945" marR="0" lvl="0" indent="0" algn="l" rtl="0">
                        <a:lnSpc>
                          <a:spcPct val="100000"/>
                        </a:lnSpc>
                        <a:spcBef>
                          <a:spcPts val="1115"/>
                        </a:spcBef>
                        <a:spcAft>
                          <a:spcPts val="0"/>
                        </a:spcAft>
                        <a:buNone/>
                      </a:pPr>
                      <a:r>
                        <a:rPr lang="en-US" sz="1600" u="none" strike="noStrike" cap="none" dirty="0">
                          <a:latin typeface="Times New Roman"/>
                          <a:ea typeface="Times New Roman"/>
                          <a:cs typeface="Times New Roman"/>
                          <a:sym typeface="Times New Roman"/>
                        </a:rPr>
                        <a:t>3</a:t>
                      </a:r>
                      <a:endParaRPr sz="16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0D4"/>
                    </a:solidFill>
                  </a:tcPr>
                </a:tc>
                <a:tc>
                  <a:txBody>
                    <a:bodyPr/>
                    <a:lstStyle/>
                    <a:p>
                      <a:pPr marL="68580" marR="418465" lvl="0" indent="0" algn="l" rtl="0">
                        <a:lnSpc>
                          <a:spcPct val="107100"/>
                        </a:lnSpc>
                        <a:spcBef>
                          <a:spcPts val="0"/>
                        </a:spcBef>
                        <a:spcAft>
                          <a:spcPts val="0"/>
                        </a:spcAft>
                        <a:buNone/>
                      </a:pPr>
                      <a:r>
                        <a:rPr lang="en-US" sz="1600" u="none" strike="noStrike" cap="none" dirty="0">
                          <a:latin typeface="Times New Roman"/>
                          <a:ea typeface="Times New Roman"/>
                          <a:cs typeface="Times New Roman"/>
                          <a:sym typeface="Times New Roman"/>
                        </a:rPr>
                        <a:t>Hybrid CNN-LSTM  model with glove word  vector for sentiment  analysis on football  specific tweets</a:t>
                      </a:r>
                    </a:p>
                    <a:p>
                      <a:pPr marL="0" marR="0" lvl="0" indent="0" algn="l" rtl="0">
                        <a:lnSpc>
                          <a:spcPct val="100000"/>
                        </a:lnSpc>
                        <a:spcBef>
                          <a:spcPts val="0"/>
                        </a:spcBef>
                        <a:spcAft>
                          <a:spcPts val="0"/>
                        </a:spcAft>
                        <a:buNone/>
                      </a:pPr>
                      <a:endParaRPr sz="1550" u="none" strike="noStrike" cap="none" dirty="0">
                        <a:latin typeface="Times New Roman"/>
                        <a:ea typeface="Times New Roman"/>
                        <a:cs typeface="Times New Roman"/>
                        <a:sym typeface="Times New Roman"/>
                      </a:endParaRPr>
                    </a:p>
                  </a:txBody>
                  <a:tcPr marL="0" marR="0" marT="255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0D4"/>
                    </a:solidFill>
                  </a:tcPr>
                </a:tc>
                <a:tc>
                  <a:txBody>
                    <a:bodyPr/>
                    <a:lstStyle/>
                    <a:p>
                      <a:pPr marL="0" marR="0" lvl="0" indent="0" algn="l" rtl="0">
                        <a:lnSpc>
                          <a:spcPct val="100000"/>
                        </a:lnSpc>
                        <a:spcBef>
                          <a:spcPts val="0"/>
                        </a:spcBef>
                        <a:spcAft>
                          <a:spcPts val="0"/>
                        </a:spcAft>
                        <a:buNone/>
                      </a:pPr>
                      <a:r>
                        <a:rPr lang="en-US" sz="1600" u="none" strike="noStrike" cap="none" dirty="0">
                          <a:solidFill>
                            <a:srgbClr val="212121"/>
                          </a:solidFill>
                          <a:latin typeface="Times New Roman"/>
                          <a:ea typeface="Times New Roman"/>
                          <a:cs typeface="Times New Roman"/>
                          <a:sym typeface="Times New Roman"/>
                        </a:rPr>
                        <a:t>Hegde et al</a:t>
                      </a:r>
                      <a:endParaRPr sz="2450" u="none" strike="noStrike" cap="none" dirty="0">
                        <a:latin typeface="Times New Roman"/>
                        <a:ea typeface="Times New Roman"/>
                        <a:cs typeface="Times New Roman"/>
                        <a:sym typeface="Times New Roman"/>
                      </a:endParaRPr>
                    </a:p>
                  </a:txBody>
                  <a:tcPr marL="0" marR="0" marT="625"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0D4"/>
                    </a:solidFill>
                  </a:tcPr>
                </a:tc>
                <a:tc>
                  <a:txBody>
                    <a:bodyPr/>
                    <a:lstStyle/>
                    <a:p>
                      <a:pPr marL="68580" marR="121920" lvl="0" indent="0" algn="l" rtl="0">
                        <a:lnSpc>
                          <a:spcPct val="107000"/>
                        </a:lnSpc>
                        <a:spcBef>
                          <a:spcPts val="235"/>
                        </a:spcBef>
                        <a:spcAft>
                          <a:spcPts val="0"/>
                        </a:spcAft>
                        <a:buNone/>
                      </a:pPr>
                      <a:r>
                        <a:rPr lang="en-US" sz="1600" b="1" u="none" strike="noStrike" cap="none" dirty="0">
                          <a:latin typeface="Times New Roman"/>
                          <a:ea typeface="Times New Roman"/>
                          <a:cs typeface="Times New Roman"/>
                          <a:sym typeface="Times New Roman"/>
                        </a:rPr>
                        <a:t>Publisher :</a:t>
                      </a:r>
                      <a:r>
                        <a:rPr lang="en-US" sz="1600" b="0" u="none" strike="noStrike" cap="none" dirty="0">
                          <a:latin typeface="Times New Roman"/>
                          <a:ea typeface="Times New Roman"/>
                          <a:cs typeface="Times New Roman"/>
                          <a:sym typeface="Times New Roman"/>
                        </a:rPr>
                        <a:t> IEEE </a:t>
                      </a:r>
                      <a:endParaRPr lang="en-US" sz="1600" b="1" u="none" strike="noStrike" cap="none" dirty="0">
                        <a:latin typeface="Times New Roman"/>
                        <a:ea typeface="Times New Roman"/>
                        <a:cs typeface="Times New Roman"/>
                        <a:sym typeface="Times New Roman"/>
                      </a:endParaRPr>
                    </a:p>
                    <a:p>
                      <a:pPr marL="68580" marR="121920" lvl="0" indent="0" algn="l" rtl="0">
                        <a:lnSpc>
                          <a:spcPct val="107000"/>
                        </a:lnSpc>
                        <a:spcBef>
                          <a:spcPts val="235"/>
                        </a:spcBef>
                        <a:spcAft>
                          <a:spcPts val="0"/>
                        </a:spcAft>
                        <a:buNone/>
                      </a:pPr>
                      <a:r>
                        <a:rPr lang="en-US" sz="1600" b="1" u="none" strike="noStrike" cap="none" dirty="0">
                          <a:latin typeface="Times New Roman"/>
                          <a:ea typeface="Times New Roman"/>
                          <a:cs typeface="Times New Roman"/>
                          <a:sym typeface="Times New Roman"/>
                        </a:rPr>
                        <a:t>Year: </a:t>
                      </a:r>
                      <a:r>
                        <a:rPr lang="en-US" sz="1600" b="0" u="none" strike="noStrike" cap="none" dirty="0">
                          <a:latin typeface="Times New Roman"/>
                          <a:ea typeface="Times New Roman"/>
                          <a:cs typeface="Times New Roman"/>
                          <a:sym typeface="Times New Roman"/>
                        </a:rPr>
                        <a:t>2021</a:t>
                      </a:r>
                    </a:p>
                    <a:p>
                      <a:pPr marL="68580" marR="784225" lvl="0" indent="0" algn="l" rtl="0">
                        <a:lnSpc>
                          <a:spcPct val="107500"/>
                        </a:lnSpc>
                        <a:spcBef>
                          <a:spcPts val="0"/>
                        </a:spcBef>
                        <a:spcAft>
                          <a:spcPts val="0"/>
                        </a:spcAft>
                        <a:buNone/>
                      </a:pPr>
                      <a:endParaRPr sz="2450" b="0" u="none" strike="noStrike" cap="none" dirty="0">
                        <a:latin typeface="Times New Roman"/>
                        <a:ea typeface="Times New Roman"/>
                        <a:cs typeface="Times New Roman"/>
                        <a:sym typeface="Times New Roman"/>
                      </a:endParaRPr>
                    </a:p>
                  </a:txBody>
                  <a:tcPr marL="0" marR="0" marT="625"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0D4"/>
                    </a:solidFill>
                  </a:tcPr>
                </a:tc>
                <a:tc>
                  <a:txBody>
                    <a:bodyPr/>
                    <a:lstStyle/>
                    <a:p>
                      <a:pPr marL="69215" marR="0" lvl="0" indent="0" algn="l" rtl="0">
                        <a:lnSpc>
                          <a:spcPct val="100000"/>
                        </a:lnSpc>
                        <a:spcBef>
                          <a:spcPts val="0"/>
                        </a:spcBef>
                        <a:spcAft>
                          <a:spcPts val="0"/>
                        </a:spcAft>
                        <a:buNone/>
                      </a:pPr>
                      <a:r>
                        <a:rPr lang="en-US" sz="1600" b="1" u="none" strike="noStrike" cap="none" dirty="0">
                          <a:latin typeface="Times New Roman"/>
                          <a:ea typeface="Times New Roman"/>
                          <a:cs typeface="Times New Roman"/>
                          <a:sym typeface="Times New Roman"/>
                        </a:rPr>
                        <a:t>Dataset</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Selfmade</a:t>
                      </a:r>
                      <a:r>
                        <a:rPr lang="en-US" sz="1600" u="none" strike="noStrike" cap="none" dirty="0">
                          <a:latin typeface="Times New Roman"/>
                          <a:ea typeface="Times New Roman"/>
                          <a:cs typeface="Times New Roman"/>
                          <a:sym typeface="Times New Roman"/>
                        </a:rPr>
                        <a:t>-Private(FIFA 2018 tweet)</a:t>
                      </a:r>
                    </a:p>
                    <a:p>
                      <a:pPr marL="69215" marR="142240" lvl="0" indent="0" algn="l" rtl="0">
                        <a:lnSpc>
                          <a:spcPct val="106900"/>
                        </a:lnSpc>
                        <a:spcBef>
                          <a:spcPts val="15"/>
                        </a:spcBef>
                        <a:spcAft>
                          <a:spcPts val="0"/>
                        </a:spcAft>
                        <a:buNone/>
                      </a:pPr>
                      <a:r>
                        <a:rPr lang="en-US" sz="1600" b="1" u="none" strike="noStrike" cap="none" dirty="0">
                          <a:latin typeface="Times New Roman"/>
                          <a:ea typeface="Times New Roman"/>
                          <a:cs typeface="Times New Roman"/>
                          <a:sym typeface="Times New Roman"/>
                        </a:rPr>
                        <a:t>Algorithm</a:t>
                      </a:r>
                      <a:r>
                        <a:rPr lang="en-US" sz="1600" u="none" strike="noStrike" cap="none" dirty="0">
                          <a:latin typeface="Times New Roman"/>
                          <a:ea typeface="Times New Roman"/>
                          <a:cs typeface="Times New Roman"/>
                          <a:sym typeface="Times New Roman"/>
                        </a:rPr>
                        <a:t>: Random Forest, Support Vector Machine,  Multinomial Naive Bayes, K-Nearest Neighbors, XG Boost,  CNN+LSTM</a:t>
                      </a:r>
                    </a:p>
                    <a:p>
                      <a:pPr marL="69215" marR="0" lvl="0" indent="0" algn="l" rtl="0">
                        <a:lnSpc>
                          <a:spcPct val="100000"/>
                        </a:lnSpc>
                        <a:spcBef>
                          <a:spcPts val="130"/>
                        </a:spcBef>
                        <a:spcAft>
                          <a:spcPts val="0"/>
                        </a:spcAft>
                        <a:buNone/>
                      </a:pPr>
                      <a:r>
                        <a:rPr lang="en-US" sz="1600" b="1" u="none" strike="noStrike" cap="none" dirty="0">
                          <a:latin typeface="Times New Roman"/>
                          <a:ea typeface="Times New Roman"/>
                          <a:cs typeface="Times New Roman"/>
                          <a:sym typeface="Times New Roman"/>
                        </a:rPr>
                        <a:t>Result</a:t>
                      </a:r>
                      <a:r>
                        <a:rPr lang="en-US" sz="1600" u="none" strike="noStrike" cap="none" dirty="0">
                          <a:latin typeface="Times New Roman"/>
                          <a:ea typeface="Times New Roman"/>
                          <a:cs typeface="Times New Roman"/>
                          <a:sym typeface="Times New Roman"/>
                        </a:rPr>
                        <a:t>: 85.46 % accuracy.</a:t>
                      </a:r>
                    </a:p>
                    <a:p>
                      <a:r>
                        <a:rPr lang="en-US" sz="1600" b="1" u="none" strike="noStrike" cap="none" dirty="0">
                          <a:latin typeface="Times New Roman"/>
                          <a:ea typeface="Times New Roman"/>
                          <a:cs typeface="Times New Roman"/>
                          <a:sym typeface="Times New Roman"/>
                        </a:rPr>
                        <a:t>Findings</a:t>
                      </a:r>
                      <a:r>
                        <a:rPr lang="en-US" sz="1600" u="none" strike="noStrike" cap="none" dirty="0">
                          <a:latin typeface="Times New Roman"/>
                          <a:ea typeface="Times New Roman"/>
                          <a:cs typeface="Times New Roman"/>
                          <a:sym typeface="Times New Roman"/>
                        </a:rPr>
                        <a:t>: </a:t>
                      </a:r>
                      <a:r>
                        <a:rPr lang="en-US" sz="1600" dirty="0">
                          <a:latin typeface="Times New Roman" panose="02020603050405020304" pitchFamily="18" charset="0"/>
                          <a:cs typeface="Times New Roman" panose="02020603050405020304" pitchFamily="18" charset="0"/>
                        </a:rPr>
                        <a:t>Hybrid CNN-LSTM achieved 85.46% accuracy on FIFA 2018 Twitter data, outperforming traditional ML models (Random Forest, SVM, MNB, KNN, </a:t>
                      </a:r>
                      <a:r>
                        <a:rPr lang="en-US" sz="1600" dirty="0" err="1">
                          <a:latin typeface="Times New Roman" panose="02020603050405020304" pitchFamily="18" charset="0"/>
                          <a:cs typeface="Times New Roman" panose="02020603050405020304" pitchFamily="18" charset="0"/>
                        </a:rPr>
                        <a:t>XGBoost</a:t>
                      </a:r>
                      <a:r>
                        <a:rPr lang="en-US" sz="1600" dirty="0">
                          <a:latin typeface="Times New Roman" panose="02020603050405020304" pitchFamily="18" charset="0"/>
                          <a:cs typeface="Times New Roman" panose="02020603050405020304" pitchFamily="18" charset="0"/>
                        </a:rPr>
                        <a:t>) by combining CNN's feature extraction with LSTM's sequential learning to capture temporal sentiment patterns across match phases including goals and penalties.</a:t>
                      </a:r>
                    </a:p>
                    <a:p>
                      <a:pPr marL="69215" marR="0" lvl="0" indent="0" algn="l" rtl="0">
                        <a:lnSpc>
                          <a:spcPct val="100000"/>
                        </a:lnSpc>
                        <a:spcBef>
                          <a:spcPts val="0"/>
                        </a:spcBef>
                        <a:spcAft>
                          <a:spcPts val="0"/>
                        </a:spcAft>
                        <a:buNone/>
                      </a:pPr>
                      <a:endParaRPr sz="1600" u="none" strike="noStrike" cap="none" dirty="0">
                        <a:latin typeface="Times New Roman"/>
                        <a:ea typeface="Times New Roman"/>
                        <a:cs typeface="Times New Roman"/>
                        <a:sym typeface="Times New Roman"/>
                      </a:endParaRPr>
                    </a:p>
                  </a:txBody>
                  <a:tcPr marL="0" marR="0" marT="11620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0D4"/>
                    </a:solidFill>
                  </a:tcPr>
                </a:tc>
                <a:extLst>
                  <a:ext uri="{0D108BD9-81ED-4DB2-BD59-A6C34878D82A}">
                    <a16:rowId xmlns:a16="http://schemas.microsoft.com/office/drawing/2014/main" val="10001"/>
                  </a:ext>
                </a:extLst>
              </a:tr>
              <a:tr h="2150827">
                <a:tc>
                  <a:txBody>
                    <a:bodyPr/>
                    <a:lstStyle/>
                    <a:p>
                      <a:pPr marL="0" marR="0" lvl="0" indent="0" algn="l" rtl="0">
                        <a:lnSpc>
                          <a:spcPct val="100000"/>
                        </a:lnSpc>
                        <a:spcBef>
                          <a:spcPts val="0"/>
                        </a:spcBef>
                        <a:spcAft>
                          <a:spcPts val="0"/>
                        </a:spcAft>
                        <a:buNone/>
                      </a:pPr>
                      <a:endParaRPr sz="17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700" u="none" strike="noStrike" cap="none" dirty="0">
                        <a:latin typeface="Times New Roman"/>
                        <a:ea typeface="Times New Roman"/>
                        <a:cs typeface="Times New Roman"/>
                        <a:sym typeface="Times New Roman"/>
                      </a:endParaRPr>
                    </a:p>
                    <a:p>
                      <a:pPr marL="0" marR="0" lvl="0" indent="0" algn="l" rtl="0">
                        <a:lnSpc>
                          <a:spcPct val="100000"/>
                        </a:lnSpc>
                        <a:spcBef>
                          <a:spcPts val="45"/>
                        </a:spcBef>
                        <a:spcAft>
                          <a:spcPts val="0"/>
                        </a:spcAft>
                        <a:buNone/>
                      </a:pPr>
                      <a:endParaRPr sz="1350" u="none" strike="noStrike" cap="none" dirty="0">
                        <a:latin typeface="Times New Roman"/>
                        <a:ea typeface="Times New Roman"/>
                        <a:cs typeface="Times New Roman"/>
                        <a:sym typeface="Times New Roman"/>
                      </a:endParaRPr>
                    </a:p>
                    <a:p>
                      <a:pPr marL="67945" marR="0" lvl="0" indent="0" algn="l" rtl="0">
                        <a:lnSpc>
                          <a:spcPct val="100000"/>
                        </a:lnSpc>
                        <a:spcBef>
                          <a:spcPts val="0"/>
                        </a:spcBef>
                        <a:spcAft>
                          <a:spcPts val="0"/>
                        </a:spcAft>
                        <a:buNone/>
                      </a:pPr>
                      <a:r>
                        <a:rPr lang="en-US" sz="1600" u="none" strike="noStrike" cap="none" dirty="0">
                          <a:latin typeface="Times New Roman"/>
                          <a:ea typeface="Times New Roman"/>
                          <a:cs typeface="Times New Roman"/>
                          <a:sym typeface="Times New Roman"/>
                        </a:rPr>
                        <a:t>4</a:t>
                      </a:r>
                      <a:endParaRPr sz="16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0EB"/>
                    </a:solidFill>
                  </a:tcPr>
                </a:tc>
                <a:tc>
                  <a:txBody>
                    <a:bodyPr/>
                    <a:lstStyle/>
                    <a:p>
                      <a:pPr marL="68580" marR="387985" lvl="0" indent="0" algn="l" defTabSz="914400" rtl="0" eaLnBrk="1" fontAlgn="auto" latinLnBrk="0" hangingPunct="1">
                        <a:lnSpc>
                          <a:spcPct val="107100"/>
                        </a:lnSpc>
                        <a:spcBef>
                          <a:spcPts val="0"/>
                        </a:spcBef>
                        <a:spcAft>
                          <a:spcPts val="0"/>
                        </a:spcAft>
                        <a:buClr>
                          <a:srgbClr val="000000"/>
                        </a:buClr>
                        <a:buSzTx/>
                        <a:buFont typeface="Arial"/>
                        <a:buNone/>
                        <a:tabLst/>
                        <a:defRPr/>
                      </a:pPr>
                      <a:r>
                        <a:rPr lang="en-US" sz="1600" u="none" strike="noStrike" cap="none" dirty="0">
                          <a:latin typeface="Times New Roman"/>
                          <a:ea typeface="Times New Roman"/>
                          <a:cs typeface="Times New Roman"/>
                          <a:sym typeface="Times New Roman"/>
                        </a:rPr>
                        <a:t>An automated learning  model of conventional  neural network based  sentiment analysis on  Twitter data</a:t>
                      </a:r>
                    </a:p>
                    <a:p>
                      <a:pPr marL="68580" marR="387985" lvl="0" indent="0" algn="l" rtl="0">
                        <a:lnSpc>
                          <a:spcPct val="107100"/>
                        </a:lnSpc>
                        <a:spcBef>
                          <a:spcPts val="0"/>
                        </a:spcBef>
                        <a:spcAft>
                          <a:spcPts val="0"/>
                        </a:spcAft>
                        <a:buNone/>
                      </a:pPr>
                      <a:endParaRPr sz="1600" u="none" strike="noStrike" cap="none" dirty="0">
                        <a:latin typeface="Times New Roman"/>
                        <a:ea typeface="Times New Roman"/>
                        <a:cs typeface="Times New Roman"/>
                        <a:sym typeface="Times New Roman"/>
                      </a:endParaRPr>
                    </a:p>
                  </a:txBody>
                  <a:tcPr marL="0" marR="0" marT="160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0EB"/>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u="none" strike="noStrike" cap="none" dirty="0">
                          <a:latin typeface="Times New Roman"/>
                          <a:ea typeface="Times New Roman"/>
                          <a:cs typeface="Times New Roman"/>
                          <a:sym typeface="Times New Roman"/>
                        </a:rPr>
                        <a:t>Neelakandan    and Paulraj</a:t>
                      </a:r>
                    </a:p>
                    <a:p>
                      <a:pPr marL="0" marR="0" lvl="0" indent="0" algn="l" rtl="0">
                        <a:lnSpc>
                          <a:spcPct val="100000"/>
                        </a:lnSpc>
                        <a:spcBef>
                          <a:spcPts val="0"/>
                        </a:spcBef>
                        <a:spcAft>
                          <a:spcPts val="0"/>
                        </a:spcAft>
                        <a:buNone/>
                      </a:pPr>
                      <a:endParaRPr sz="1700" u="none" strike="noStrike" cap="none" dirty="0">
                        <a:latin typeface="Times New Roman"/>
                        <a:ea typeface="Times New Roman"/>
                        <a:cs typeface="Times New Roman"/>
                        <a:sym typeface="Times New Roman"/>
                      </a:endParaRPr>
                    </a:p>
                    <a:p>
                      <a:pPr marL="0" marR="0" lvl="0" indent="0" algn="l" rtl="0">
                        <a:lnSpc>
                          <a:spcPct val="100000"/>
                        </a:lnSpc>
                        <a:spcBef>
                          <a:spcPts val="50"/>
                        </a:spcBef>
                        <a:spcAft>
                          <a:spcPts val="0"/>
                        </a:spcAft>
                        <a:buNone/>
                      </a:pPr>
                      <a:endParaRPr sz="215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0EB"/>
                    </a:solidFill>
                  </a:tcPr>
                </a:tc>
                <a:tc>
                  <a:txBody>
                    <a:bodyPr/>
                    <a:lstStyle/>
                    <a:p>
                      <a:pPr marL="68580" marR="530860" lvl="0" indent="0" algn="l" rtl="0">
                        <a:lnSpc>
                          <a:spcPct val="106900"/>
                        </a:lnSpc>
                        <a:spcBef>
                          <a:spcPts val="0"/>
                        </a:spcBef>
                        <a:spcAft>
                          <a:spcPts val="0"/>
                        </a:spcAft>
                        <a:buNone/>
                      </a:pPr>
                      <a:r>
                        <a:rPr lang="en-US" sz="1600" b="1" u="none" strike="noStrike" cap="none" dirty="0">
                          <a:latin typeface="Times New Roman" panose="02020603050405020304" pitchFamily="18" charset="0"/>
                          <a:ea typeface="Times New Roman"/>
                          <a:cs typeface="Times New Roman" panose="02020603050405020304" pitchFamily="18" charset="0"/>
                          <a:sym typeface="Times New Roman"/>
                        </a:rPr>
                        <a:t>Publisher : </a:t>
                      </a:r>
                      <a:r>
                        <a:rPr lang="en-US" sz="1600" b="0" u="none" strike="noStrike" cap="none" dirty="0">
                          <a:latin typeface="Times New Roman" panose="02020603050405020304" pitchFamily="18" charset="0"/>
                          <a:ea typeface="Times New Roman"/>
                          <a:cs typeface="Times New Roman" panose="02020603050405020304" pitchFamily="18" charset="0"/>
                          <a:sym typeface="Times New Roman"/>
                        </a:rPr>
                        <a:t>American Scientific Publishers</a:t>
                      </a:r>
                      <a:r>
                        <a:rPr lang="en-US" sz="1600" b="0" u="none" strike="noStrike" cap="none" dirty="0">
                          <a:latin typeface="Times New Roman" panose="02020603050405020304" pitchFamily="18" charset="0"/>
                          <a:cs typeface="Times New Roman" panose="02020603050405020304" pitchFamily="18" charset="0"/>
                        </a:rPr>
                        <a:t>.</a:t>
                      </a:r>
                      <a:endParaRPr lang="en-US" sz="1600" b="0" u="none" strike="noStrike" cap="none" dirty="0">
                        <a:latin typeface="Times New Roman" panose="02020603050405020304" pitchFamily="18" charset="0"/>
                        <a:ea typeface="Times New Roman"/>
                        <a:cs typeface="Times New Roman" panose="02020603050405020304" pitchFamily="18" charset="0"/>
                        <a:sym typeface="Times New Roman"/>
                      </a:endParaRPr>
                    </a:p>
                    <a:p>
                      <a:pPr marL="68580" marR="530860" lvl="0" indent="0" algn="l" rtl="0">
                        <a:lnSpc>
                          <a:spcPct val="106900"/>
                        </a:lnSpc>
                        <a:spcBef>
                          <a:spcPts val="0"/>
                        </a:spcBef>
                        <a:spcAft>
                          <a:spcPts val="0"/>
                        </a:spcAft>
                        <a:buNone/>
                      </a:pPr>
                      <a:r>
                        <a:rPr lang="en-US" sz="1600" b="1" u="none" strike="noStrike" cap="none" dirty="0">
                          <a:latin typeface="Times New Roman" panose="02020603050405020304" pitchFamily="18" charset="0"/>
                          <a:ea typeface="Times New Roman"/>
                          <a:cs typeface="Times New Roman" panose="02020603050405020304" pitchFamily="18" charset="0"/>
                          <a:sym typeface="Times New Roman"/>
                        </a:rPr>
                        <a:t>Year:</a:t>
                      </a:r>
                      <a:r>
                        <a:rPr lang="en-US" sz="1600" b="0" u="none" strike="noStrike" cap="none" dirty="0">
                          <a:latin typeface="Times New Roman" panose="02020603050405020304" pitchFamily="18" charset="0"/>
                          <a:ea typeface="Times New Roman"/>
                          <a:cs typeface="Times New Roman" panose="02020603050405020304" pitchFamily="18" charset="0"/>
                          <a:sym typeface="Times New Roman"/>
                        </a:rPr>
                        <a:t>2020</a:t>
                      </a:r>
                    </a:p>
                    <a:p>
                      <a:pPr marL="68580" marR="121920" lvl="0" indent="0" algn="l" rtl="0">
                        <a:lnSpc>
                          <a:spcPct val="107000"/>
                        </a:lnSpc>
                        <a:spcBef>
                          <a:spcPts val="0"/>
                        </a:spcBef>
                        <a:spcAft>
                          <a:spcPts val="0"/>
                        </a:spcAft>
                        <a:buNone/>
                      </a:pPr>
                      <a:endParaRPr sz="1600" b="1" u="none" strike="noStrike" cap="none" dirty="0">
                        <a:latin typeface="Times New Roman"/>
                        <a:ea typeface="Times New Roman"/>
                        <a:cs typeface="Times New Roman"/>
                        <a:sym typeface="Times New Roman"/>
                      </a:endParaRPr>
                    </a:p>
                  </a:txBody>
                  <a:tcPr marL="0" marR="0" marT="2985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0EB"/>
                    </a:solidFill>
                  </a:tcPr>
                </a:tc>
                <a:tc>
                  <a:txBody>
                    <a:bodyPr/>
                    <a:lstStyle/>
                    <a:p>
                      <a:pPr marL="69215" marR="0" lvl="0" indent="0" algn="l" rtl="0">
                        <a:lnSpc>
                          <a:spcPct val="100000"/>
                        </a:lnSpc>
                        <a:spcBef>
                          <a:spcPts val="0"/>
                        </a:spcBef>
                        <a:spcAft>
                          <a:spcPts val="0"/>
                        </a:spcAft>
                        <a:buNone/>
                      </a:pPr>
                      <a:r>
                        <a:rPr lang="en-US" sz="1600" b="1" u="none" strike="noStrike" cap="none" dirty="0">
                          <a:latin typeface="Times New Roman"/>
                          <a:ea typeface="Times New Roman"/>
                          <a:cs typeface="Times New Roman"/>
                          <a:sym typeface="Times New Roman"/>
                        </a:rPr>
                        <a:t>Dataset</a:t>
                      </a:r>
                      <a:r>
                        <a:rPr lang="en-US" sz="1600" u="none" strike="noStrike" cap="none" dirty="0">
                          <a:latin typeface="Times New Roman"/>
                          <a:ea typeface="Times New Roman"/>
                          <a:cs typeface="Times New Roman"/>
                          <a:sym typeface="Times New Roman"/>
                        </a:rPr>
                        <a:t>: SemEval-2013</a:t>
                      </a:r>
                    </a:p>
                    <a:p>
                      <a:pPr marL="69215" marR="0" lvl="0" indent="0" algn="l" rtl="0">
                        <a:lnSpc>
                          <a:spcPct val="100000"/>
                        </a:lnSpc>
                        <a:spcBef>
                          <a:spcPts val="0"/>
                        </a:spcBef>
                        <a:spcAft>
                          <a:spcPts val="0"/>
                        </a:spcAft>
                        <a:buNone/>
                      </a:pPr>
                      <a:r>
                        <a:rPr lang="en-US" sz="1600" b="1" u="none" strike="noStrike" cap="none" dirty="0">
                          <a:latin typeface="Times New Roman"/>
                          <a:ea typeface="Times New Roman"/>
                          <a:cs typeface="Times New Roman"/>
                          <a:sym typeface="Times New Roman"/>
                        </a:rPr>
                        <a:t>Algorithm</a:t>
                      </a:r>
                      <a:r>
                        <a:rPr lang="en-US" sz="1600" u="none" strike="noStrike" cap="none" dirty="0">
                          <a:latin typeface="Times New Roman"/>
                          <a:ea typeface="Times New Roman"/>
                          <a:cs typeface="Times New Roman"/>
                          <a:sym typeface="Times New Roman"/>
                        </a:rPr>
                        <a:t>: Decision Tree, Support Vector Machine, Naïve Bayes</a:t>
                      </a:r>
                    </a:p>
                    <a:p>
                      <a:pPr marL="69215" marR="0" lvl="0" indent="0" algn="l" rtl="0">
                        <a:lnSpc>
                          <a:spcPct val="100000"/>
                        </a:lnSpc>
                        <a:spcBef>
                          <a:spcPts val="0"/>
                        </a:spcBef>
                        <a:spcAft>
                          <a:spcPts val="0"/>
                        </a:spcAft>
                        <a:buNone/>
                      </a:pPr>
                      <a:r>
                        <a:rPr lang="en-US" sz="1600" b="1" u="none" strike="noStrike" cap="none" dirty="0">
                          <a:latin typeface="Times New Roman"/>
                          <a:ea typeface="Times New Roman"/>
                          <a:cs typeface="Times New Roman"/>
                          <a:sym typeface="Times New Roman"/>
                        </a:rPr>
                        <a:t>Result</a:t>
                      </a:r>
                      <a:r>
                        <a:rPr lang="en-US" sz="1600" u="none" strike="noStrike" cap="none" dirty="0">
                          <a:latin typeface="Times New Roman"/>
                          <a:ea typeface="Times New Roman"/>
                          <a:cs typeface="Times New Roman"/>
                          <a:sym typeface="Times New Roman"/>
                        </a:rPr>
                        <a:t>: 69.5 % F1 Score.</a:t>
                      </a:r>
                    </a:p>
                    <a:p>
                      <a:r>
                        <a:rPr lang="en-US" sz="1600" b="1" u="none" strike="noStrike" cap="none" dirty="0" err="1">
                          <a:latin typeface="Times New Roman"/>
                          <a:ea typeface="Times New Roman"/>
                          <a:cs typeface="Times New Roman"/>
                          <a:sym typeface="Times New Roman"/>
                        </a:rPr>
                        <a:t>Findings</a:t>
                      </a:r>
                      <a:r>
                        <a:rPr lang="en-US" sz="1600" u="none" strike="noStrike" cap="none" dirty="0" err="1">
                          <a:latin typeface="Times New Roman"/>
                          <a:ea typeface="Times New Roman"/>
                          <a:cs typeface="Times New Roman"/>
                          <a:sym typeface="Times New Roman"/>
                        </a:rPr>
                        <a:t>:</a:t>
                      </a:r>
                      <a:r>
                        <a:rPr lang="en-US" sz="1600" dirty="0" err="1">
                          <a:latin typeface="Times New Roman" panose="02020603050405020304" pitchFamily="18" charset="0"/>
                          <a:cs typeface="Times New Roman" panose="02020603050405020304" pitchFamily="18" charset="0"/>
                        </a:rPr>
                        <a:t>CNN</a:t>
                      </a:r>
                      <a:r>
                        <a:rPr lang="en-US" sz="1600" dirty="0">
                          <a:latin typeface="Times New Roman" panose="02020603050405020304" pitchFamily="18" charset="0"/>
                          <a:cs typeface="Times New Roman" panose="02020603050405020304" pitchFamily="18" charset="0"/>
                        </a:rPr>
                        <a:t> achieved 69.5% F1-score on SemEval-2013, outperforming Decision Tree, SVM, and Naïve Bayes by extracting emoticons, punctuation, and n-gram features from informal Twitter text.</a:t>
                      </a:r>
                    </a:p>
                    <a:p>
                      <a:pPr marL="69215" marR="0" lvl="0" indent="0" algn="l" rtl="0">
                        <a:lnSpc>
                          <a:spcPct val="100000"/>
                        </a:lnSpc>
                        <a:spcBef>
                          <a:spcPts val="0"/>
                        </a:spcBef>
                        <a:spcAft>
                          <a:spcPts val="0"/>
                        </a:spcAft>
                        <a:buNone/>
                      </a:pPr>
                      <a:endParaRPr sz="1600" u="none" strike="noStrike" cap="none" dirty="0">
                        <a:latin typeface="Times New Roman"/>
                        <a:ea typeface="Times New Roman"/>
                        <a:cs typeface="Times New Roman"/>
                        <a:sym typeface="Times New Roman"/>
                      </a:endParaRPr>
                    </a:p>
                  </a:txBody>
                  <a:tcPr marL="0" marR="0" marT="4700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0EB"/>
                    </a:solidFill>
                  </a:tcPr>
                </a:tc>
                <a:extLst>
                  <a:ext uri="{0D108BD9-81ED-4DB2-BD59-A6C34878D82A}">
                    <a16:rowId xmlns:a16="http://schemas.microsoft.com/office/drawing/2014/main" val="10002"/>
                  </a:ext>
                </a:extLst>
              </a:tr>
            </a:tbl>
          </a:graphicData>
        </a:graphic>
      </p:graphicFrame>
      <p:sp>
        <p:nvSpPr>
          <p:cNvPr id="6" name="Google Shape;137;p7">
            <a:extLst>
              <a:ext uri="{FF2B5EF4-FFF2-40B4-BE49-F238E27FC236}">
                <a16:creationId xmlns:a16="http://schemas.microsoft.com/office/drawing/2014/main" id="{E253E404-D134-5D05-CADB-2468CFAD81EE}"/>
              </a:ext>
            </a:extLst>
          </p:cNvPr>
          <p:cNvSpPr txBox="1">
            <a:spLocks noGrp="1"/>
          </p:cNvSpPr>
          <p:nvPr>
            <p:ph type="title"/>
          </p:nvPr>
        </p:nvSpPr>
        <p:spPr>
          <a:xfrm>
            <a:off x="305814" y="-48724"/>
            <a:ext cx="5517016"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3600"/>
              <a:buFont typeface="Times New Roman"/>
              <a:buNone/>
            </a:pPr>
            <a:r>
              <a:rPr lang="en-US" sz="3600" b="1" dirty="0">
                <a:latin typeface="Times New Roman"/>
                <a:ea typeface="Times New Roman"/>
                <a:cs typeface="Times New Roman"/>
                <a:sym typeface="Times New Roman"/>
              </a:rPr>
              <a:t>Literature Review</a:t>
            </a:r>
            <a:endParaRPr dirty="0"/>
          </a:p>
        </p:txBody>
      </p:sp>
    </p:spTree>
    <p:extLst>
      <p:ext uri="{BB962C8B-B14F-4D97-AF65-F5344CB8AC3E}">
        <p14:creationId xmlns:p14="http://schemas.microsoft.com/office/powerpoint/2010/main" val="4009890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7"/>
          <p:cNvSpPr txBox="1">
            <a:spLocks noGrp="1"/>
          </p:cNvSpPr>
          <p:nvPr>
            <p:ph type="sldNum" idx="12"/>
          </p:nvPr>
        </p:nvSpPr>
        <p:spPr>
          <a:xfrm>
            <a:off x="9262876"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sz="1800" b="1" dirty="0">
                <a:solidFill>
                  <a:srgbClr val="171616"/>
                </a:solidFill>
                <a:latin typeface="Times New Roman"/>
                <a:cs typeface="Times New Roman"/>
                <a:sym typeface="Times New Roman"/>
              </a:rPr>
              <a:t>8</a:t>
            </a:r>
            <a:endParaRPr dirty="0"/>
          </a:p>
        </p:txBody>
      </p:sp>
      <p:sp>
        <p:nvSpPr>
          <p:cNvPr id="137" name="Google Shape;137;p7"/>
          <p:cNvSpPr txBox="1">
            <a:spLocks noGrp="1"/>
          </p:cNvSpPr>
          <p:nvPr>
            <p:ph type="title"/>
          </p:nvPr>
        </p:nvSpPr>
        <p:spPr>
          <a:xfrm>
            <a:off x="305814" y="39764"/>
            <a:ext cx="5517016"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Literature Review</a:t>
            </a:r>
            <a:endParaRPr/>
          </a:p>
        </p:txBody>
      </p:sp>
      <p:graphicFrame>
        <p:nvGraphicFramePr>
          <p:cNvPr id="138" name="Google Shape;138;p7"/>
          <p:cNvGraphicFramePr/>
          <p:nvPr>
            <p:extLst>
              <p:ext uri="{D42A27DB-BD31-4B8C-83A1-F6EECF244321}">
                <p14:modId xmlns:p14="http://schemas.microsoft.com/office/powerpoint/2010/main" val="78095409"/>
              </p:ext>
            </p:extLst>
          </p:nvPr>
        </p:nvGraphicFramePr>
        <p:xfrm>
          <a:off x="185924" y="606586"/>
          <a:ext cx="11935520" cy="5910590"/>
        </p:xfrm>
        <a:graphic>
          <a:graphicData uri="http://schemas.openxmlformats.org/drawingml/2006/table">
            <a:tbl>
              <a:tblPr firstRow="1" bandRow="1">
                <a:noFill/>
                <a:tableStyleId>{A12B2C4A-2641-410F-86F1-3BD795578828}</a:tableStyleId>
              </a:tblPr>
              <a:tblGrid>
                <a:gridCol w="729620">
                  <a:extLst>
                    <a:ext uri="{9D8B030D-6E8A-4147-A177-3AD203B41FA5}">
                      <a16:colId xmlns:a16="http://schemas.microsoft.com/office/drawing/2014/main" val="20000"/>
                    </a:ext>
                  </a:extLst>
                </a:gridCol>
                <a:gridCol w="2436367">
                  <a:extLst>
                    <a:ext uri="{9D8B030D-6E8A-4147-A177-3AD203B41FA5}">
                      <a16:colId xmlns:a16="http://schemas.microsoft.com/office/drawing/2014/main" val="20001"/>
                    </a:ext>
                  </a:extLst>
                </a:gridCol>
                <a:gridCol w="1386348">
                  <a:extLst>
                    <a:ext uri="{9D8B030D-6E8A-4147-A177-3AD203B41FA5}">
                      <a16:colId xmlns:a16="http://schemas.microsoft.com/office/drawing/2014/main" val="20002"/>
                    </a:ext>
                  </a:extLst>
                </a:gridCol>
                <a:gridCol w="2526890">
                  <a:extLst>
                    <a:ext uri="{9D8B030D-6E8A-4147-A177-3AD203B41FA5}">
                      <a16:colId xmlns:a16="http://schemas.microsoft.com/office/drawing/2014/main" val="20003"/>
                    </a:ext>
                  </a:extLst>
                </a:gridCol>
                <a:gridCol w="4856295">
                  <a:extLst>
                    <a:ext uri="{9D8B030D-6E8A-4147-A177-3AD203B41FA5}">
                      <a16:colId xmlns:a16="http://schemas.microsoft.com/office/drawing/2014/main" val="20004"/>
                    </a:ext>
                  </a:extLst>
                </a:gridCol>
              </a:tblGrid>
              <a:tr h="626750">
                <a:tc>
                  <a:txBody>
                    <a:bodyPr/>
                    <a:lstStyle/>
                    <a:p>
                      <a:pPr marL="140335" marR="132715" lvl="0" indent="27304" algn="l" rtl="0">
                        <a:lnSpc>
                          <a:spcPct val="100000"/>
                        </a:lnSpc>
                        <a:spcBef>
                          <a:spcPts val="0"/>
                        </a:spcBef>
                        <a:spcAft>
                          <a:spcPts val="0"/>
                        </a:spcAft>
                        <a:buNone/>
                      </a:pPr>
                      <a:r>
                        <a:rPr lang="en-US" sz="1600" b="1" u="none" strike="noStrike" cap="none">
                          <a:solidFill>
                            <a:srgbClr val="FFFFFF"/>
                          </a:solidFill>
                          <a:latin typeface="Times New Roman"/>
                          <a:ea typeface="Times New Roman"/>
                          <a:cs typeface="Times New Roman"/>
                          <a:sym typeface="Times New Roman"/>
                        </a:rPr>
                        <a:t>SL  NO</a:t>
                      </a:r>
                      <a:endParaRPr sz="1600" u="none" strike="noStrike" cap="none">
                        <a:latin typeface="Times New Roman"/>
                        <a:ea typeface="Times New Roman"/>
                        <a:cs typeface="Times New Roman"/>
                        <a:sym typeface="Times New Roman"/>
                      </a:endParaRPr>
                    </a:p>
                  </a:txBody>
                  <a:tcPr marL="0" marR="0" marT="628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62A437"/>
                    </a:solidFill>
                  </a:tcPr>
                </a:tc>
                <a:tc>
                  <a:txBody>
                    <a:bodyPr/>
                    <a:lstStyle/>
                    <a:p>
                      <a:pPr marL="0" marR="0" lvl="0" indent="0" algn="ctr" rtl="0">
                        <a:lnSpc>
                          <a:spcPct val="100000"/>
                        </a:lnSpc>
                        <a:spcBef>
                          <a:spcPts val="0"/>
                        </a:spcBef>
                        <a:spcAft>
                          <a:spcPts val="0"/>
                        </a:spcAft>
                        <a:buNone/>
                      </a:pPr>
                      <a:r>
                        <a:rPr lang="en-US" sz="1600" b="1" u="none" strike="noStrike" cap="none" dirty="0">
                          <a:solidFill>
                            <a:srgbClr val="FFFFFF"/>
                          </a:solidFill>
                          <a:latin typeface="Times New Roman"/>
                          <a:ea typeface="Times New Roman"/>
                          <a:cs typeface="Times New Roman"/>
                          <a:sym typeface="Times New Roman"/>
                        </a:rPr>
                        <a:t>Title</a:t>
                      </a:r>
                      <a:endParaRPr sz="1600" u="none" strike="noStrike" cap="none" dirty="0">
                        <a:latin typeface="Times New Roman"/>
                        <a:ea typeface="Times New Roman"/>
                        <a:cs typeface="Times New Roman"/>
                        <a:sym typeface="Times New Roman"/>
                      </a:endParaRPr>
                    </a:p>
                  </a:txBody>
                  <a:tcPr marL="0" marR="0" marT="185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62A437"/>
                    </a:solidFill>
                  </a:tcPr>
                </a:tc>
                <a:tc>
                  <a:txBody>
                    <a:bodyPr/>
                    <a:lstStyle/>
                    <a:p>
                      <a:pPr marL="374015" marR="0" lvl="0" indent="0" algn="l" rtl="0">
                        <a:lnSpc>
                          <a:spcPct val="100000"/>
                        </a:lnSpc>
                        <a:spcBef>
                          <a:spcPts val="0"/>
                        </a:spcBef>
                        <a:spcAft>
                          <a:spcPts val="0"/>
                        </a:spcAft>
                        <a:buNone/>
                      </a:pPr>
                      <a:r>
                        <a:rPr lang="en-US" sz="1600" b="1" u="none" strike="noStrike" cap="none" dirty="0">
                          <a:solidFill>
                            <a:srgbClr val="FFFFFF"/>
                          </a:solidFill>
                          <a:latin typeface="Times New Roman"/>
                          <a:ea typeface="Times New Roman"/>
                          <a:cs typeface="Times New Roman"/>
                          <a:sym typeface="Times New Roman"/>
                        </a:rPr>
                        <a:t>Author</a:t>
                      </a:r>
                      <a:endParaRPr sz="1600" u="none" strike="noStrike" cap="none" dirty="0">
                        <a:latin typeface="Times New Roman"/>
                        <a:ea typeface="Times New Roman"/>
                        <a:cs typeface="Times New Roman"/>
                        <a:sym typeface="Times New Roman"/>
                      </a:endParaRPr>
                    </a:p>
                  </a:txBody>
                  <a:tcPr marL="0" marR="0" marT="185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62A437"/>
                    </a:solidFill>
                  </a:tcPr>
                </a:tc>
                <a:tc>
                  <a:txBody>
                    <a:bodyPr/>
                    <a:lstStyle/>
                    <a:p>
                      <a:pPr marL="809625" marR="692785" lvl="0" indent="-105409" algn="l" rtl="0">
                        <a:lnSpc>
                          <a:spcPct val="100000"/>
                        </a:lnSpc>
                        <a:spcBef>
                          <a:spcPts val="0"/>
                        </a:spcBef>
                        <a:spcAft>
                          <a:spcPts val="0"/>
                        </a:spcAft>
                        <a:buNone/>
                      </a:pPr>
                      <a:r>
                        <a:rPr lang="en-US" sz="1600" b="1" u="none" strike="noStrike" cap="none">
                          <a:solidFill>
                            <a:srgbClr val="FFFFFF"/>
                          </a:solidFill>
                          <a:latin typeface="Times New Roman"/>
                          <a:ea typeface="Times New Roman"/>
                          <a:cs typeface="Times New Roman"/>
                          <a:sym typeface="Times New Roman"/>
                        </a:rPr>
                        <a:t>Publisher  &amp; Year</a:t>
                      </a:r>
                      <a:endParaRPr sz="1600" u="none" strike="noStrike" cap="none">
                        <a:latin typeface="Times New Roman"/>
                        <a:ea typeface="Times New Roman"/>
                        <a:cs typeface="Times New Roman"/>
                        <a:sym typeface="Times New Roman"/>
                      </a:endParaRPr>
                    </a:p>
                  </a:txBody>
                  <a:tcPr marL="0" marR="0" marT="628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62A437"/>
                    </a:solidFill>
                  </a:tcPr>
                </a:tc>
                <a:tc>
                  <a:txBody>
                    <a:bodyPr/>
                    <a:lstStyle/>
                    <a:p>
                      <a:pPr marL="635" marR="0" lvl="0" indent="0" algn="ctr" rtl="0">
                        <a:lnSpc>
                          <a:spcPct val="100000"/>
                        </a:lnSpc>
                        <a:spcBef>
                          <a:spcPts val="0"/>
                        </a:spcBef>
                        <a:spcAft>
                          <a:spcPts val="0"/>
                        </a:spcAft>
                        <a:buNone/>
                      </a:pPr>
                      <a:r>
                        <a:rPr lang="en-US" sz="1600" b="1" u="none" strike="noStrike" cap="none" dirty="0">
                          <a:solidFill>
                            <a:srgbClr val="FFFFFF"/>
                          </a:solidFill>
                          <a:latin typeface="Times New Roman"/>
                          <a:ea typeface="Times New Roman"/>
                          <a:cs typeface="Times New Roman"/>
                          <a:sym typeface="Times New Roman"/>
                        </a:rPr>
                        <a:t>Finding</a:t>
                      </a:r>
                      <a:endParaRPr sz="1600" u="none" strike="noStrike" cap="none" dirty="0">
                        <a:latin typeface="Times New Roman"/>
                        <a:ea typeface="Times New Roman"/>
                        <a:cs typeface="Times New Roman"/>
                        <a:sym typeface="Times New Roman"/>
                      </a:endParaRPr>
                    </a:p>
                  </a:txBody>
                  <a:tcPr marL="0" marR="0" marT="185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62A437"/>
                    </a:solidFill>
                  </a:tcPr>
                </a:tc>
                <a:extLst>
                  <a:ext uri="{0D108BD9-81ED-4DB2-BD59-A6C34878D82A}">
                    <a16:rowId xmlns:a16="http://schemas.microsoft.com/office/drawing/2014/main" val="10000"/>
                  </a:ext>
                </a:extLst>
              </a:tr>
              <a:tr h="251716">
                <a:tc>
                  <a:txBody>
                    <a:bodyPr/>
                    <a:lstStyle/>
                    <a:p>
                      <a:pPr marL="0" marR="0" lvl="0" indent="0" algn="l" rtl="0">
                        <a:lnSpc>
                          <a:spcPct val="100000"/>
                        </a:lnSpc>
                        <a:spcBef>
                          <a:spcPts val="0"/>
                        </a:spcBef>
                        <a:spcAft>
                          <a:spcPts val="0"/>
                        </a:spcAft>
                        <a:buNone/>
                      </a:pPr>
                      <a:endParaRPr sz="17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700" u="none" strike="noStrike" cap="none" dirty="0">
                        <a:latin typeface="Times New Roman"/>
                        <a:ea typeface="Times New Roman"/>
                        <a:cs typeface="Times New Roman"/>
                        <a:sym typeface="Times New Roman"/>
                      </a:endParaRPr>
                    </a:p>
                    <a:p>
                      <a:pPr marL="67945" marR="0" lvl="0" indent="0" algn="l" rtl="0">
                        <a:lnSpc>
                          <a:spcPct val="100000"/>
                        </a:lnSpc>
                        <a:spcBef>
                          <a:spcPts val="1115"/>
                        </a:spcBef>
                        <a:spcAft>
                          <a:spcPts val="0"/>
                        </a:spcAft>
                        <a:buNone/>
                      </a:pPr>
                      <a:r>
                        <a:rPr lang="en-US" sz="1600" u="none" strike="noStrike" cap="none" dirty="0">
                          <a:latin typeface="Times New Roman"/>
                          <a:ea typeface="Times New Roman"/>
                          <a:cs typeface="Times New Roman"/>
                          <a:sym typeface="Times New Roman"/>
                        </a:rPr>
                        <a:t>5</a:t>
                      </a:r>
                      <a:endParaRPr sz="16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0D4"/>
                    </a:solidFill>
                  </a:tcPr>
                </a:tc>
                <a:tc>
                  <a:txBody>
                    <a:bodyPr/>
                    <a:lstStyle/>
                    <a:p>
                      <a:pPr marL="0" marR="0" lvl="0" indent="0" algn="l" rtl="0">
                        <a:lnSpc>
                          <a:spcPct val="100000"/>
                        </a:lnSpc>
                        <a:spcBef>
                          <a:spcPts val="0"/>
                        </a:spcBef>
                        <a:spcAft>
                          <a:spcPts val="0"/>
                        </a:spcAft>
                        <a:buNone/>
                      </a:pPr>
                      <a:r>
                        <a:rPr lang="en-US" sz="1600" u="none" strike="noStrike" cap="none" dirty="0">
                          <a:latin typeface="Times New Roman"/>
                          <a:ea typeface="Times New Roman"/>
                          <a:cs typeface="Times New Roman"/>
                          <a:sym typeface="Times New Roman"/>
                        </a:rPr>
                        <a:t>Sentiment identification in  football-specific tweets</a:t>
                      </a:r>
                    </a:p>
                    <a:p>
                      <a:pPr marL="0" marR="0" lvl="0" indent="0" algn="l" rtl="0">
                        <a:lnSpc>
                          <a:spcPct val="100000"/>
                        </a:lnSpc>
                        <a:spcBef>
                          <a:spcPts val="0"/>
                        </a:spcBef>
                        <a:spcAft>
                          <a:spcPts val="0"/>
                        </a:spcAft>
                        <a:buNone/>
                      </a:pPr>
                      <a:endParaRPr sz="1550" u="none" strike="noStrike" cap="none" dirty="0">
                        <a:latin typeface="Times New Roman"/>
                        <a:ea typeface="Times New Roman"/>
                        <a:cs typeface="Times New Roman"/>
                        <a:sym typeface="Times New Roman"/>
                      </a:endParaRPr>
                    </a:p>
                  </a:txBody>
                  <a:tcPr marL="0" marR="0" marT="255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0D4"/>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u="none" strike="noStrike" cap="none" dirty="0" err="1">
                          <a:solidFill>
                            <a:srgbClr val="212121"/>
                          </a:solidFill>
                          <a:latin typeface="Times New Roman"/>
                          <a:ea typeface="Times New Roman"/>
                          <a:cs typeface="Times New Roman"/>
                          <a:sym typeface="Times New Roman"/>
                        </a:rPr>
                        <a:t>Aloufi</a:t>
                      </a:r>
                      <a:r>
                        <a:rPr lang="en-US" sz="1600" u="none" strike="noStrike" cap="none" dirty="0">
                          <a:solidFill>
                            <a:srgbClr val="212121"/>
                          </a:solidFill>
                          <a:latin typeface="Times New Roman"/>
                          <a:ea typeface="Times New Roman"/>
                          <a:cs typeface="Times New Roman"/>
                          <a:sym typeface="Times New Roman"/>
                        </a:rPr>
                        <a:t> et al.</a:t>
                      </a:r>
                      <a:endParaRPr lang="en-US" sz="16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600" u="none" strike="noStrike" cap="none" dirty="0">
                        <a:latin typeface="Times New Roman"/>
                        <a:ea typeface="Times New Roman"/>
                        <a:cs typeface="Times New Roman"/>
                        <a:sym typeface="Times New Roman"/>
                      </a:endParaRPr>
                    </a:p>
                  </a:txBody>
                  <a:tcPr marL="0" marR="0" marT="625"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0D4"/>
                    </a:solidFill>
                  </a:tcPr>
                </a:tc>
                <a:tc>
                  <a:txBody>
                    <a:bodyPr/>
                    <a:lstStyle/>
                    <a:p>
                      <a:pPr marL="68580" marR="490219" lvl="0" indent="0" algn="l" rtl="0">
                        <a:lnSpc>
                          <a:spcPct val="107100"/>
                        </a:lnSpc>
                        <a:spcBef>
                          <a:spcPts val="655"/>
                        </a:spcBef>
                        <a:spcAft>
                          <a:spcPts val="0"/>
                        </a:spcAft>
                        <a:buNone/>
                      </a:pPr>
                      <a:r>
                        <a:rPr lang="en-US" sz="1600" b="1" u="none" strike="noStrike" cap="none" dirty="0">
                          <a:latin typeface="Times New Roman"/>
                          <a:ea typeface="Times New Roman"/>
                          <a:cs typeface="Times New Roman"/>
                          <a:sym typeface="Times New Roman"/>
                        </a:rPr>
                        <a:t>Publisher : </a:t>
                      </a:r>
                      <a:r>
                        <a:rPr lang="en-US" sz="1600" u="none" strike="noStrike" cap="none" dirty="0">
                          <a:latin typeface="Times New Roman"/>
                          <a:ea typeface="Times New Roman"/>
                          <a:cs typeface="Times New Roman"/>
                          <a:sym typeface="Times New Roman"/>
                        </a:rPr>
                        <a:t>IEEE Access </a:t>
                      </a:r>
                    </a:p>
                    <a:p>
                      <a:pPr marL="68580" marR="490219" lvl="0" indent="0" algn="l" rtl="0">
                        <a:lnSpc>
                          <a:spcPct val="107100"/>
                        </a:lnSpc>
                        <a:spcBef>
                          <a:spcPts val="655"/>
                        </a:spcBef>
                        <a:spcAft>
                          <a:spcPts val="0"/>
                        </a:spcAft>
                        <a:buNone/>
                      </a:pPr>
                      <a:r>
                        <a:rPr lang="en-US" sz="1600" b="1" u="none" strike="noStrike" cap="none" dirty="0">
                          <a:latin typeface="Times New Roman"/>
                          <a:ea typeface="Times New Roman"/>
                          <a:cs typeface="Times New Roman"/>
                          <a:sym typeface="Times New Roman"/>
                        </a:rPr>
                        <a:t>Year:</a:t>
                      </a:r>
                      <a:r>
                        <a:rPr lang="en-US" sz="1600" b="0" u="none" strike="noStrike" cap="none" dirty="0">
                          <a:latin typeface="Times New Roman"/>
                          <a:ea typeface="Times New Roman"/>
                          <a:cs typeface="Times New Roman"/>
                          <a:sym typeface="Times New Roman"/>
                        </a:rPr>
                        <a:t>2018</a:t>
                      </a:r>
                      <a:endParaRPr lang="en-US" sz="1600" b="1" u="none" strike="noStrike" cap="none" dirty="0">
                        <a:latin typeface="Times New Roman"/>
                        <a:ea typeface="Times New Roman"/>
                        <a:cs typeface="Times New Roman"/>
                        <a:sym typeface="Times New Roman"/>
                      </a:endParaRPr>
                    </a:p>
                    <a:p>
                      <a:pPr marL="68580" marR="784225" lvl="0" indent="0" algn="l" rtl="0">
                        <a:lnSpc>
                          <a:spcPct val="107500"/>
                        </a:lnSpc>
                        <a:spcBef>
                          <a:spcPts val="0"/>
                        </a:spcBef>
                        <a:spcAft>
                          <a:spcPts val="0"/>
                        </a:spcAft>
                        <a:buNone/>
                      </a:pPr>
                      <a:endParaRPr sz="2450" b="0" u="none" strike="noStrike" cap="none" dirty="0">
                        <a:latin typeface="Times New Roman"/>
                        <a:ea typeface="Times New Roman"/>
                        <a:cs typeface="Times New Roman"/>
                        <a:sym typeface="Times New Roman"/>
                      </a:endParaRPr>
                    </a:p>
                  </a:txBody>
                  <a:tcPr marL="0" marR="0" marT="625"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0D4"/>
                    </a:solidFill>
                  </a:tcPr>
                </a:tc>
                <a:tc>
                  <a:txBody>
                    <a:bodyPr/>
                    <a:lstStyle/>
                    <a:p>
                      <a:pPr marL="69215" marR="0" lvl="0" indent="0" algn="l" rtl="0">
                        <a:lnSpc>
                          <a:spcPct val="100000"/>
                        </a:lnSpc>
                        <a:spcBef>
                          <a:spcPts val="0"/>
                        </a:spcBef>
                        <a:spcAft>
                          <a:spcPts val="0"/>
                        </a:spcAft>
                        <a:buNone/>
                      </a:pPr>
                      <a:r>
                        <a:rPr lang="en-US" sz="1600" b="1" u="none" strike="noStrike" cap="none" dirty="0">
                          <a:latin typeface="Times New Roman"/>
                          <a:ea typeface="Times New Roman"/>
                          <a:cs typeface="Times New Roman"/>
                          <a:sym typeface="Times New Roman"/>
                        </a:rPr>
                        <a:t>Dataset</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Selfmade</a:t>
                      </a:r>
                      <a:r>
                        <a:rPr lang="en-US" sz="1600" u="none" strike="noStrike" cap="none" dirty="0">
                          <a:latin typeface="Times New Roman"/>
                          <a:ea typeface="Times New Roman"/>
                          <a:cs typeface="Times New Roman"/>
                          <a:sym typeface="Times New Roman"/>
                        </a:rPr>
                        <a:t>-Private(FIFA 2014 tweet)</a:t>
                      </a:r>
                    </a:p>
                    <a:p>
                      <a:pPr marL="69215" marR="0" lvl="0" indent="0" algn="l" rtl="0">
                        <a:lnSpc>
                          <a:spcPct val="100000"/>
                        </a:lnSpc>
                        <a:spcBef>
                          <a:spcPts val="0"/>
                        </a:spcBef>
                        <a:spcAft>
                          <a:spcPts val="0"/>
                        </a:spcAft>
                        <a:buNone/>
                      </a:pPr>
                      <a:r>
                        <a:rPr lang="en-US" sz="1600" b="1" u="none" strike="noStrike" cap="none" dirty="0">
                          <a:latin typeface="Times New Roman"/>
                          <a:ea typeface="Times New Roman"/>
                          <a:cs typeface="Times New Roman"/>
                          <a:sym typeface="Times New Roman"/>
                        </a:rPr>
                        <a:t>Algorithm</a:t>
                      </a:r>
                      <a:r>
                        <a:rPr lang="en-US" sz="1600" u="none" strike="noStrike" cap="none" dirty="0">
                          <a:latin typeface="Times New Roman"/>
                          <a:ea typeface="Times New Roman"/>
                          <a:cs typeface="Times New Roman"/>
                          <a:sym typeface="Times New Roman"/>
                        </a:rPr>
                        <a:t>: Random Forest, Support Vector Machine,</a:t>
                      </a:r>
                    </a:p>
                    <a:p>
                      <a:pPr marL="69215" marR="0" lvl="0" indent="0" algn="l" rtl="0">
                        <a:lnSpc>
                          <a:spcPct val="100000"/>
                        </a:lnSpc>
                        <a:spcBef>
                          <a:spcPts val="0"/>
                        </a:spcBef>
                        <a:spcAft>
                          <a:spcPts val="0"/>
                        </a:spcAft>
                        <a:buNone/>
                      </a:pPr>
                      <a:r>
                        <a:rPr lang="en-US" sz="1600" u="none" strike="noStrike" cap="none" dirty="0">
                          <a:latin typeface="Times New Roman"/>
                          <a:ea typeface="Times New Roman"/>
                          <a:cs typeface="Times New Roman"/>
                          <a:sym typeface="Times New Roman"/>
                        </a:rPr>
                        <a:t>Multinomial Naive Bayes</a:t>
                      </a:r>
                    </a:p>
                    <a:p>
                      <a:pPr marL="69215" marR="0" lvl="0" indent="0" algn="l" rtl="0">
                        <a:lnSpc>
                          <a:spcPct val="100000"/>
                        </a:lnSpc>
                        <a:spcBef>
                          <a:spcPts val="0"/>
                        </a:spcBef>
                        <a:spcAft>
                          <a:spcPts val="0"/>
                        </a:spcAft>
                        <a:buNone/>
                      </a:pPr>
                      <a:r>
                        <a:rPr lang="en-US" sz="1600" b="1" u="none" strike="noStrike" cap="none" dirty="0">
                          <a:latin typeface="Times New Roman"/>
                          <a:ea typeface="Times New Roman"/>
                          <a:cs typeface="Times New Roman"/>
                          <a:sym typeface="Times New Roman"/>
                        </a:rPr>
                        <a:t>Result</a:t>
                      </a:r>
                      <a:r>
                        <a:rPr lang="en-US" sz="1600" u="none" strike="noStrike" cap="none" dirty="0">
                          <a:latin typeface="Times New Roman"/>
                          <a:ea typeface="Times New Roman"/>
                          <a:cs typeface="Times New Roman"/>
                          <a:sym typeface="Times New Roman"/>
                        </a:rPr>
                        <a:t>: 63 %  accuracy.</a:t>
                      </a:r>
                    </a:p>
                    <a:p>
                      <a:r>
                        <a:rPr lang="en-US" sz="1600" b="1" u="none" strike="noStrike" cap="none" dirty="0" err="1">
                          <a:latin typeface="Times New Roman"/>
                          <a:ea typeface="Times New Roman"/>
                          <a:cs typeface="Times New Roman"/>
                          <a:sym typeface="Times New Roman"/>
                        </a:rPr>
                        <a:t>Findings</a:t>
                      </a:r>
                      <a:r>
                        <a:rPr lang="en-US" sz="1600" u="none" strike="noStrike" cap="none" dirty="0" err="1">
                          <a:latin typeface="Times New Roman"/>
                          <a:ea typeface="Times New Roman"/>
                          <a:cs typeface="Times New Roman"/>
                          <a:sym typeface="Times New Roman"/>
                        </a:rPr>
                        <a:t>:</a:t>
                      </a:r>
                      <a:r>
                        <a:rPr lang="en-US" sz="1600" dirty="0" err="1">
                          <a:latin typeface="Times New Roman" panose="02020603050405020304" pitchFamily="18" charset="0"/>
                          <a:cs typeface="Times New Roman" panose="02020603050405020304" pitchFamily="18" charset="0"/>
                        </a:rPr>
                        <a:t>SVM</a:t>
                      </a:r>
                      <a:r>
                        <a:rPr lang="en-US" sz="1600" dirty="0">
                          <a:latin typeface="Times New Roman" panose="02020603050405020304" pitchFamily="18" charset="0"/>
                          <a:cs typeface="Times New Roman" panose="02020603050405020304" pitchFamily="18" charset="0"/>
                        </a:rPr>
                        <a:t> achieved 85% accuracy on FIFA World Cup 2014 Twitter dataset using N-gram and lexicon-based features from a football-specific sentiment lexicon, outperforming traditional classifiers by effectively capturing domain-specific terminology and fan emotions during match events like goals and penalties.</a:t>
                      </a:r>
                    </a:p>
                    <a:p>
                      <a:pPr marL="69215" marR="0" lvl="0" indent="0" algn="l" rtl="0">
                        <a:lnSpc>
                          <a:spcPct val="100000"/>
                        </a:lnSpc>
                        <a:spcBef>
                          <a:spcPts val="0"/>
                        </a:spcBef>
                        <a:spcAft>
                          <a:spcPts val="0"/>
                        </a:spcAft>
                        <a:buNone/>
                      </a:pPr>
                      <a:endParaRPr lang="en-US" sz="1600" u="none" strike="noStrike" cap="none" dirty="0">
                        <a:latin typeface="Times New Roman"/>
                        <a:ea typeface="Times New Roman"/>
                        <a:cs typeface="Times New Roman"/>
                        <a:sym typeface="Times New Roman"/>
                      </a:endParaRPr>
                    </a:p>
                    <a:p>
                      <a:pPr marL="69215" marR="0" lvl="0" indent="0" algn="l" rtl="0">
                        <a:lnSpc>
                          <a:spcPct val="100000"/>
                        </a:lnSpc>
                        <a:spcBef>
                          <a:spcPts val="0"/>
                        </a:spcBef>
                        <a:spcAft>
                          <a:spcPts val="0"/>
                        </a:spcAft>
                        <a:buNone/>
                      </a:pPr>
                      <a:endParaRPr sz="1600" u="none" strike="noStrike" cap="none" dirty="0">
                        <a:latin typeface="Times New Roman"/>
                        <a:ea typeface="Times New Roman"/>
                        <a:cs typeface="Times New Roman"/>
                        <a:sym typeface="Times New Roman"/>
                      </a:endParaRPr>
                    </a:p>
                  </a:txBody>
                  <a:tcPr marL="0" marR="0" marT="11620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0D4"/>
                    </a:solidFill>
                  </a:tcPr>
                </a:tc>
                <a:extLst>
                  <a:ext uri="{0D108BD9-81ED-4DB2-BD59-A6C34878D82A}">
                    <a16:rowId xmlns:a16="http://schemas.microsoft.com/office/drawing/2014/main" val="10001"/>
                  </a:ext>
                </a:extLst>
              </a:tr>
              <a:tr h="1675125">
                <a:tc>
                  <a:txBody>
                    <a:bodyPr/>
                    <a:lstStyle/>
                    <a:p>
                      <a:pPr marL="0" marR="0" lvl="0" indent="0" algn="l" rtl="0">
                        <a:lnSpc>
                          <a:spcPct val="100000"/>
                        </a:lnSpc>
                        <a:spcBef>
                          <a:spcPts val="0"/>
                        </a:spcBef>
                        <a:spcAft>
                          <a:spcPts val="0"/>
                        </a:spcAft>
                        <a:buNone/>
                      </a:pPr>
                      <a:endParaRPr sz="17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700" u="none" strike="noStrike" cap="none" dirty="0">
                        <a:latin typeface="Times New Roman"/>
                        <a:ea typeface="Times New Roman"/>
                        <a:cs typeface="Times New Roman"/>
                        <a:sym typeface="Times New Roman"/>
                      </a:endParaRPr>
                    </a:p>
                    <a:p>
                      <a:pPr marL="0" marR="0" lvl="0" indent="0" algn="l" rtl="0">
                        <a:lnSpc>
                          <a:spcPct val="100000"/>
                        </a:lnSpc>
                        <a:spcBef>
                          <a:spcPts val="45"/>
                        </a:spcBef>
                        <a:spcAft>
                          <a:spcPts val="0"/>
                        </a:spcAft>
                        <a:buNone/>
                      </a:pPr>
                      <a:endParaRPr sz="1350" u="none" strike="noStrike" cap="none" dirty="0">
                        <a:latin typeface="Times New Roman"/>
                        <a:ea typeface="Times New Roman"/>
                        <a:cs typeface="Times New Roman"/>
                        <a:sym typeface="Times New Roman"/>
                      </a:endParaRPr>
                    </a:p>
                    <a:p>
                      <a:pPr marL="67945" marR="0" lvl="0" indent="0" algn="l" rtl="0">
                        <a:lnSpc>
                          <a:spcPct val="100000"/>
                        </a:lnSpc>
                        <a:spcBef>
                          <a:spcPts val="0"/>
                        </a:spcBef>
                        <a:spcAft>
                          <a:spcPts val="0"/>
                        </a:spcAft>
                        <a:buNone/>
                      </a:pPr>
                      <a:r>
                        <a:rPr lang="en-US" sz="1600" u="none" strike="noStrike" cap="none" dirty="0">
                          <a:latin typeface="Times New Roman"/>
                          <a:ea typeface="Times New Roman"/>
                          <a:cs typeface="Times New Roman"/>
                          <a:sym typeface="Times New Roman"/>
                        </a:rPr>
                        <a:t>6</a:t>
                      </a:r>
                      <a:endParaRPr sz="16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0EB"/>
                    </a:solidFill>
                  </a:tcPr>
                </a:tc>
                <a:tc>
                  <a:txBody>
                    <a:bodyPr/>
                    <a:lstStyle/>
                    <a:p>
                      <a:pPr marL="68580" marR="387985" lvl="0" indent="0" algn="ctr" defTabSz="914400" rtl="0" eaLnBrk="1" fontAlgn="auto" latinLnBrk="0" hangingPunct="1">
                        <a:lnSpc>
                          <a:spcPct val="107100"/>
                        </a:lnSpc>
                        <a:spcBef>
                          <a:spcPts val="0"/>
                        </a:spcBef>
                        <a:spcAft>
                          <a:spcPts val="0"/>
                        </a:spcAft>
                        <a:buClr>
                          <a:srgbClr val="000000"/>
                        </a:buClr>
                        <a:buSzTx/>
                        <a:buFont typeface="Arial"/>
                        <a:buNone/>
                        <a:tabLst/>
                        <a:defRPr/>
                      </a:pPr>
                      <a:r>
                        <a:rPr lang="en-US" sz="1600" u="none" strike="noStrike" cap="none" dirty="0">
                          <a:latin typeface="Times New Roman"/>
                          <a:ea typeface="Times New Roman"/>
                          <a:cs typeface="Times New Roman"/>
                          <a:sym typeface="Times New Roman"/>
                        </a:rPr>
                        <a:t>Sentiment analysis on  </a:t>
                      </a:r>
                      <a:r>
                        <a:rPr lang="en-US" sz="1600" u="none" strike="noStrike" cap="none" dirty="0" err="1">
                          <a:latin typeface="Times New Roman"/>
                          <a:ea typeface="Times New Roman"/>
                          <a:cs typeface="Times New Roman"/>
                          <a:sym typeface="Times New Roman"/>
                        </a:rPr>
                        <a:t>bangladesh</a:t>
                      </a:r>
                      <a:r>
                        <a:rPr lang="en-US" sz="1600" u="none" strike="noStrike" cap="none" dirty="0">
                          <a:latin typeface="Times New Roman"/>
                          <a:ea typeface="Times New Roman"/>
                          <a:cs typeface="Times New Roman"/>
                          <a:sym typeface="Times New Roman"/>
                        </a:rPr>
                        <a:t> cricket with  support vector machine</a:t>
                      </a:r>
                    </a:p>
                    <a:p>
                      <a:pPr marL="68580" marR="387985" lvl="0" indent="0" algn="l" rtl="0">
                        <a:lnSpc>
                          <a:spcPct val="107100"/>
                        </a:lnSpc>
                        <a:spcBef>
                          <a:spcPts val="0"/>
                        </a:spcBef>
                        <a:spcAft>
                          <a:spcPts val="0"/>
                        </a:spcAft>
                        <a:buNone/>
                      </a:pPr>
                      <a:endParaRPr sz="1600" u="none" strike="noStrike" cap="none" dirty="0">
                        <a:latin typeface="Times New Roman"/>
                        <a:ea typeface="Times New Roman"/>
                        <a:cs typeface="Times New Roman"/>
                        <a:sym typeface="Times New Roman"/>
                      </a:endParaRPr>
                    </a:p>
                  </a:txBody>
                  <a:tcPr marL="0" marR="0" marT="160025"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0EB"/>
                    </a:solidFill>
                  </a:tcPr>
                </a:tc>
                <a:tc>
                  <a:txBody>
                    <a:bodyPr/>
                    <a:lstStyle/>
                    <a:p>
                      <a:pPr marL="0" marR="0" lvl="0" indent="0" algn="ctr" rtl="0">
                        <a:lnSpc>
                          <a:spcPct val="100000"/>
                        </a:lnSpc>
                        <a:spcBef>
                          <a:spcPts val="0"/>
                        </a:spcBef>
                        <a:spcAft>
                          <a:spcPts val="0"/>
                        </a:spcAft>
                        <a:buNone/>
                      </a:pPr>
                      <a:endParaRPr sz="1700" u="none" strike="noStrike" cap="none" dirty="0">
                        <a:latin typeface="Times New Roman"/>
                        <a:ea typeface="Times New Roman"/>
                        <a:cs typeface="Times New Roman"/>
                        <a:sym typeface="Times New Roman"/>
                      </a:endParaRPr>
                    </a:p>
                    <a:p>
                      <a:pPr marL="0" marR="0" lvl="0" indent="0" algn="ctr" defTabSz="914400" rtl="0" eaLnBrk="1" fontAlgn="auto" latinLnBrk="0" hangingPunct="1">
                        <a:lnSpc>
                          <a:spcPct val="100000"/>
                        </a:lnSpc>
                        <a:spcBef>
                          <a:spcPts val="50"/>
                        </a:spcBef>
                        <a:spcAft>
                          <a:spcPts val="0"/>
                        </a:spcAft>
                        <a:buClr>
                          <a:srgbClr val="000000"/>
                        </a:buClr>
                        <a:buSzTx/>
                        <a:buFont typeface="Arial"/>
                        <a:buNone/>
                        <a:tabLst/>
                        <a:defRPr/>
                      </a:pPr>
                      <a:r>
                        <a:rPr lang="en-US" sz="1600" u="none" strike="noStrike" cap="none" dirty="0" err="1">
                          <a:solidFill>
                            <a:srgbClr val="212121"/>
                          </a:solidFill>
                          <a:latin typeface="Times New Roman"/>
                          <a:ea typeface="Times New Roman"/>
                          <a:cs typeface="Times New Roman"/>
                          <a:sym typeface="Times New Roman"/>
                        </a:rPr>
                        <a:t>Mahtab</a:t>
                      </a:r>
                      <a:r>
                        <a:rPr lang="en-US" sz="1600" u="none" strike="noStrike" cap="none" dirty="0">
                          <a:solidFill>
                            <a:srgbClr val="212121"/>
                          </a:solidFill>
                          <a:latin typeface="Times New Roman"/>
                          <a:ea typeface="Times New Roman"/>
                          <a:cs typeface="Times New Roman"/>
                          <a:sym typeface="Times New Roman"/>
                        </a:rPr>
                        <a:t> et al.</a:t>
                      </a:r>
                      <a:endParaRPr lang="en-US" sz="1600" u="none" strike="noStrike" cap="none" dirty="0">
                        <a:latin typeface="Times New Roman"/>
                        <a:ea typeface="Times New Roman"/>
                        <a:cs typeface="Times New Roman"/>
                        <a:sym typeface="Times New Roman"/>
                      </a:endParaRPr>
                    </a:p>
                    <a:p>
                      <a:pPr marL="0" marR="0" lvl="0" indent="0" algn="l" rtl="0">
                        <a:lnSpc>
                          <a:spcPct val="100000"/>
                        </a:lnSpc>
                        <a:spcBef>
                          <a:spcPts val="50"/>
                        </a:spcBef>
                        <a:spcAft>
                          <a:spcPts val="0"/>
                        </a:spcAft>
                        <a:buNone/>
                      </a:pPr>
                      <a:endParaRPr sz="215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0EB"/>
                    </a:solidFill>
                  </a:tcPr>
                </a:tc>
                <a:tc>
                  <a:txBody>
                    <a:bodyPr/>
                    <a:lstStyle/>
                    <a:p>
                      <a:pPr marL="68580" marR="490219" lvl="0" indent="0" algn="l" rtl="0">
                        <a:lnSpc>
                          <a:spcPct val="107100"/>
                        </a:lnSpc>
                        <a:spcBef>
                          <a:spcPts val="655"/>
                        </a:spcBef>
                        <a:spcAft>
                          <a:spcPts val="0"/>
                        </a:spcAft>
                        <a:buNone/>
                      </a:pPr>
                      <a:r>
                        <a:rPr lang="en-US" sz="1600" b="1" u="none" strike="noStrike" cap="none" dirty="0">
                          <a:latin typeface="Times New Roman"/>
                          <a:ea typeface="Times New Roman"/>
                          <a:cs typeface="Times New Roman"/>
                          <a:sym typeface="Times New Roman"/>
                        </a:rPr>
                        <a:t>Publisher : </a:t>
                      </a:r>
                      <a:r>
                        <a:rPr lang="en-US" sz="1600" u="none" strike="noStrike" cap="none" dirty="0">
                          <a:latin typeface="Times New Roman"/>
                          <a:ea typeface="Times New Roman"/>
                          <a:cs typeface="Times New Roman"/>
                          <a:sym typeface="Times New Roman"/>
                        </a:rPr>
                        <a:t>IEEE</a:t>
                      </a:r>
                    </a:p>
                    <a:p>
                      <a:pPr marL="68580" marR="490219" lvl="0" indent="0" algn="l" rtl="0">
                        <a:lnSpc>
                          <a:spcPct val="107100"/>
                        </a:lnSpc>
                        <a:spcBef>
                          <a:spcPts val="655"/>
                        </a:spcBef>
                        <a:spcAft>
                          <a:spcPts val="0"/>
                        </a:spcAft>
                        <a:buNone/>
                      </a:pPr>
                      <a:r>
                        <a:rPr lang="en-US" sz="1600" b="1" u="none" strike="noStrike" cap="none" dirty="0">
                          <a:latin typeface="Times New Roman"/>
                          <a:ea typeface="Times New Roman"/>
                          <a:cs typeface="Times New Roman"/>
                          <a:sym typeface="Times New Roman"/>
                        </a:rPr>
                        <a:t>Year:</a:t>
                      </a:r>
                      <a:r>
                        <a:rPr lang="en-US" sz="1600" b="0" u="none" strike="noStrike" cap="none" dirty="0">
                          <a:latin typeface="Times New Roman"/>
                          <a:ea typeface="Times New Roman"/>
                          <a:cs typeface="Times New Roman"/>
                          <a:sym typeface="Times New Roman"/>
                        </a:rPr>
                        <a:t>2018</a:t>
                      </a:r>
                      <a:endParaRPr lang="en-US" sz="1600" b="1" u="none" strike="noStrike" cap="none" dirty="0">
                        <a:latin typeface="Times New Roman"/>
                        <a:ea typeface="Times New Roman"/>
                        <a:cs typeface="Times New Roman"/>
                        <a:sym typeface="Times New Roman"/>
                      </a:endParaRPr>
                    </a:p>
                    <a:p>
                      <a:pPr marL="68580" marR="121920" lvl="0" indent="0" algn="l" rtl="0">
                        <a:lnSpc>
                          <a:spcPct val="107000"/>
                        </a:lnSpc>
                        <a:spcBef>
                          <a:spcPts val="0"/>
                        </a:spcBef>
                        <a:spcAft>
                          <a:spcPts val="0"/>
                        </a:spcAft>
                        <a:buNone/>
                      </a:pPr>
                      <a:endParaRPr sz="1600" b="1" u="none" strike="noStrike" cap="none" dirty="0">
                        <a:latin typeface="Times New Roman"/>
                        <a:ea typeface="Times New Roman"/>
                        <a:cs typeface="Times New Roman"/>
                        <a:sym typeface="Times New Roman"/>
                      </a:endParaRPr>
                    </a:p>
                  </a:txBody>
                  <a:tcPr marL="0" marR="0" marT="2985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0EB"/>
                    </a:solidFill>
                  </a:tcPr>
                </a:tc>
                <a:tc>
                  <a:txBody>
                    <a:bodyPr/>
                    <a:lstStyle/>
                    <a:p>
                      <a:pPr marL="69215" marR="0" lvl="0" indent="0" algn="l" rtl="0">
                        <a:lnSpc>
                          <a:spcPct val="100000"/>
                        </a:lnSpc>
                        <a:spcBef>
                          <a:spcPts val="0"/>
                        </a:spcBef>
                        <a:spcAft>
                          <a:spcPts val="0"/>
                        </a:spcAft>
                        <a:buNone/>
                      </a:pPr>
                      <a:r>
                        <a:rPr lang="en-US" sz="1600" b="1" u="none" strike="noStrike" cap="none" dirty="0">
                          <a:latin typeface="Times New Roman"/>
                          <a:ea typeface="Times New Roman"/>
                          <a:cs typeface="Times New Roman"/>
                          <a:sym typeface="Times New Roman"/>
                        </a:rPr>
                        <a:t>Dataset</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Selfmade</a:t>
                      </a:r>
                      <a:r>
                        <a:rPr lang="en-US" sz="1600" u="none" strike="noStrike" cap="none" dirty="0">
                          <a:latin typeface="Times New Roman"/>
                          <a:ea typeface="Times New Roman"/>
                          <a:cs typeface="Times New Roman"/>
                          <a:sym typeface="Times New Roman"/>
                        </a:rPr>
                        <a:t>-Private</a:t>
                      </a:r>
                    </a:p>
                    <a:p>
                      <a:pPr marL="69215" marR="0" lvl="0" indent="0" algn="l" rtl="0">
                        <a:lnSpc>
                          <a:spcPct val="100000"/>
                        </a:lnSpc>
                        <a:spcBef>
                          <a:spcPts val="0"/>
                        </a:spcBef>
                        <a:spcAft>
                          <a:spcPts val="0"/>
                        </a:spcAft>
                        <a:buNone/>
                      </a:pPr>
                      <a:r>
                        <a:rPr lang="en-US" sz="1600" b="1" u="none" strike="noStrike" cap="none" dirty="0">
                          <a:latin typeface="Times New Roman"/>
                          <a:ea typeface="Times New Roman"/>
                          <a:cs typeface="Times New Roman"/>
                          <a:sym typeface="Times New Roman"/>
                        </a:rPr>
                        <a:t>Algorithm</a:t>
                      </a:r>
                      <a:r>
                        <a:rPr lang="en-US" sz="1600" u="none" strike="noStrike" cap="none" dirty="0">
                          <a:latin typeface="Times New Roman"/>
                          <a:ea typeface="Times New Roman"/>
                          <a:cs typeface="Times New Roman"/>
                          <a:sym typeface="Times New Roman"/>
                        </a:rPr>
                        <a:t>: Support Vector Machine</a:t>
                      </a:r>
                    </a:p>
                    <a:p>
                      <a:pPr marL="69215" marR="0" lvl="0" indent="0" algn="l" rtl="0">
                        <a:lnSpc>
                          <a:spcPct val="100000"/>
                        </a:lnSpc>
                        <a:spcBef>
                          <a:spcPts val="0"/>
                        </a:spcBef>
                        <a:spcAft>
                          <a:spcPts val="0"/>
                        </a:spcAft>
                        <a:buNone/>
                      </a:pPr>
                      <a:r>
                        <a:rPr lang="en-US" sz="1600" b="1" u="none" strike="noStrike" cap="none" dirty="0">
                          <a:latin typeface="Times New Roman"/>
                          <a:ea typeface="Times New Roman"/>
                          <a:cs typeface="Times New Roman"/>
                          <a:sym typeface="Times New Roman"/>
                        </a:rPr>
                        <a:t>Result</a:t>
                      </a:r>
                      <a:r>
                        <a:rPr lang="en-US" sz="1600" u="none" strike="noStrike" cap="none" dirty="0">
                          <a:latin typeface="Times New Roman"/>
                          <a:ea typeface="Times New Roman"/>
                          <a:cs typeface="Times New Roman"/>
                          <a:sym typeface="Times New Roman"/>
                        </a:rPr>
                        <a:t>: 67 % F1 Score.</a:t>
                      </a:r>
                    </a:p>
                    <a:p>
                      <a:r>
                        <a:rPr lang="en-US" sz="1600" b="1" u="none" strike="noStrike" cap="none" dirty="0" err="1">
                          <a:latin typeface="Times New Roman"/>
                          <a:ea typeface="Times New Roman"/>
                          <a:cs typeface="Times New Roman"/>
                          <a:sym typeface="Times New Roman"/>
                        </a:rPr>
                        <a:t>Findings</a:t>
                      </a:r>
                      <a:r>
                        <a:rPr lang="en-US" sz="1600" b="1" dirty="0" err="1"/>
                        <a:t>:</a:t>
                      </a:r>
                      <a:r>
                        <a:rPr lang="en-US" sz="1600" dirty="0" err="1">
                          <a:latin typeface="Times New Roman" panose="02020603050405020304" pitchFamily="18" charset="0"/>
                          <a:cs typeface="Times New Roman" panose="02020603050405020304" pitchFamily="18" charset="0"/>
                        </a:rPr>
                        <a:t>SVM</a:t>
                      </a:r>
                      <a:r>
                        <a:rPr lang="en-US" sz="1600" dirty="0">
                          <a:latin typeface="Times New Roman" panose="02020603050405020304" pitchFamily="18" charset="0"/>
                          <a:cs typeface="Times New Roman" panose="02020603050405020304" pitchFamily="18" charset="0"/>
                        </a:rPr>
                        <a:t> with TF-IDF achieved 64.59% accuracy on self-created Bangladesh Cricket dataset with three sentiment classes (positive, negative, neutral) from social media, effectively processing Bengali text after removing unnecessary words and applying vectorization.</a:t>
                      </a:r>
                    </a:p>
                    <a:p>
                      <a:pPr marL="69215" marR="0" lvl="0" indent="0" algn="l" rtl="0">
                        <a:lnSpc>
                          <a:spcPct val="100000"/>
                        </a:lnSpc>
                        <a:spcBef>
                          <a:spcPts val="0"/>
                        </a:spcBef>
                        <a:spcAft>
                          <a:spcPts val="0"/>
                        </a:spcAft>
                        <a:buNone/>
                      </a:pPr>
                      <a:endParaRPr sz="1600" u="none" strike="noStrike" cap="none" dirty="0">
                        <a:latin typeface="Times New Roman"/>
                        <a:ea typeface="Times New Roman"/>
                        <a:cs typeface="Times New Roman"/>
                        <a:sym typeface="Times New Roman"/>
                      </a:endParaRPr>
                    </a:p>
                  </a:txBody>
                  <a:tcPr marL="0" marR="0" marT="4700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0EB"/>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75727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sz="1800" b="1" dirty="0">
                <a:solidFill>
                  <a:srgbClr val="171616"/>
                </a:solidFill>
                <a:latin typeface="Times New Roman"/>
                <a:ea typeface="Times New Roman"/>
                <a:cs typeface="Times New Roman"/>
                <a:sym typeface="Times New Roman"/>
              </a:rPr>
              <a:t>9</a:t>
            </a:r>
            <a:endParaRPr dirty="0"/>
          </a:p>
        </p:txBody>
      </p:sp>
      <p:sp>
        <p:nvSpPr>
          <p:cNvPr id="152" name="Google Shape;152;p9"/>
          <p:cNvSpPr txBox="1">
            <a:spLocks noGrp="1"/>
          </p:cNvSpPr>
          <p:nvPr>
            <p:ph type="title"/>
          </p:nvPr>
        </p:nvSpPr>
        <p:spPr>
          <a:xfrm>
            <a:off x="646277" y="601928"/>
            <a:ext cx="4271645"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System Requirements</a:t>
            </a:r>
            <a:endParaRPr/>
          </a:p>
        </p:txBody>
      </p:sp>
      <p:grpSp>
        <p:nvGrpSpPr>
          <p:cNvPr id="153" name="Google Shape;153;p9"/>
          <p:cNvGrpSpPr/>
          <p:nvPr/>
        </p:nvGrpSpPr>
        <p:grpSpPr>
          <a:xfrm>
            <a:off x="2801620" y="1620936"/>
            <a:ext cx="854710" cy="878205"/>
            <a:chOff x="2801620" y="1629562"/>
            <a:chExt cx="854710" cy="878205"/>
          </a:xfrm>
        </p:grpSpPr>
        <p:pic>
          <p:nvPicPr>
            <p:cNvPr id="154" name="Google Shape;154;p9"/>
            <p:cNvPicPr preferRelativeResize="0"/>
            <p:nvPr/>
          </p:nvPicPr>
          <p:blipFill rotWithShape="1">
            <a:blip r:embed="rId3">
              <a:alphaModFix/>
            </a:blip>
            <a:srcRect/>
            <a:stretch/>
          </p:blipFill>
          <p:spPr>
            <a:xfrm>
              <a:off x="2852227" y="1651013"/>
              <a:ext cx="753316" cy="831248"/>
            </a:xfrm>
            <a:prstGeom prst="rect">
              <a:avLst/>
            </a:prstGeom>
            <a:noFill/>
            <a:ln>
              <a:noFill/>
            </a:ln>
          </p:spPr>
        </p:pic>
        <p:sp>
          <p:nvSpPr>
            <p:cNvPr id="155" name="Google Shape;155;p9"/>
            <p:cNvSpPr/>
            <p:nvPr/>
          </p:nvSpPr>
          <p:spPr>
            <a:xfrm>
              <a:off x="2801620" y="1629562"/>
              <a:ext cx="854710" cy="878205"/>
            </a:xfrm>
            <a:custGeom>
              <a:avLst/>
              <a:gdLst/>
              <a:ahLst/>
              <a:cxnLst/>
              <a:rect l="l" t="t" r="r" b="b"/>
              <a:pathLst>
                <a:path w="854710" h="878205" extrusionOk="0">
                  <a:moveTo>
                    <a:pt x="0" y="878179"/>
                  </a:moveTo>
                  <a:lnTo>
                    <a:pt x="854405" y="878179"/>
                  </a:lnTo>
                  <a:lnTo>
                    <a:pt x="854405" y="0"/>
                  </a:lnTo>
                  <a:lnTo>
                    <a:pt x="0" y="0"/>
                  </a:lnTo>
                  <a:lnTo>
                    <a:pt x="0" y="878179"/>
                  </a:lnTo>
                  <a:close/>
                </a:path>
              </a:pathLst>
            </a:custGeom>
            <a:noFill/>
            <a:ln w="9525" cap="flat" cmpd="sng">
              <a:solidFill>
                <a:srgbClr val="99CA3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56" name="Google Shape;156;p9"/>
          <p:cNvGrpSpPr/>
          <p:nvPr/>
        </p:nvGrpSpPr>
        <p:grpSpPr>
          <a:xfrm>
            <a:off x="2801620" y="2981233"/>
            <a:ext cx="854710" cy="878205"/>
            <a:chOff x="2801620" y="2989859"/>
            <a:chExt cx="854710" cy="878205"/>
          </a:xfrm>
        </p:grpSpPr>
        <p:pic>
          <p:nvPicPr>
            <p:cNvPr id="157" name="Google Shape;157;p9"/>
            <p:cNvPicPr preferRelativeResize="0"/>
            <p:nvPr/>
          </p:nvPicPr>
          <p:blipFill rotWithShape="1">
            <a:blip r:embed="rId4">
              <a:alphaModFix/>
            </a:blip>
            <a:srcRect/>
            <a:stretch/>
          </p:blipFill>
          <p:spPr>
            <a:xfrm>
              <a:off x="2968762" y="3177560"/>
              <a:ext cx="520246" cy="502905"/>
            </a:xfrm>
            <a:prstGeom prst="rect">
              <a:avLst/>
            </a:prstGeom>
            <a:noFill/>
            <a:ln>
              <a:noFill/>
            </a:ln>
          </p:spPr>
        </p:pic>
        <p:sp>
          <p:nvSpPr>
            <p:cNvPr id="158" name="Google Shape;158;p9"/>
            <p:cNvSpPr/>
            <p:nvPr/>
          </p:nvSpPr>
          <p:spPr>
            <a:xfrm>
              <a:off x="2801620" y="2989859"/>
              <a:ext cx="854710" cy="878205"/>
            </a:xfrm>
            <a:custGeom>
              <a:avLst/>
              <a:gdLst/>
              <a:ahLst/>
              <a:cxnLst/>
              <a:rect l="l" t="t" r="r" b="b"/>
              <a:pathLst>
                <a:path w="854710" h="878204" extrusionOk="0">
                  <a:moveTo>
                    <a:pt x="0" y="878179"/>
                  </a:moveTo>
                  <a:lnTo>
                    <a:pt x="854405" y="878179"/>
                  </a:lnTo>
                  <a:lnTo>
                    <a:pt x="854405" y="0"/>
                  </a:lnTo>
                  <a:lnTo>
                    <a:pt x="0" y="0"/>
                  </a:lnTo>
                  <a:lnTo>
                    <a:pt x="0" y="878179"/>
                  </a:lnTo>
                  <a:close/>
                </a:path>
              </a:pathLst>
            </a:custGeom>
            <a:noFill/>
            <a:ln w="9525" cap="flat" cmpd="sng">
              <a:solidFill>
                <a:srgbClr val="99CA3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59" name="Google Shape;159;p9"/>
          <p:cNvSpPr txBox="1"/>
          <p:nvPr/>
        </p:nvSpPr>
        <p:spPr>
          <a:xfrm>
            <a:off x="568833" y="1625762"/>
            <a:ext cx="2162175" cy="868680"/>
          </a:xfrm>
          <a:prstGeom prst="rect">
            <a:avLst/>
          </a:prstGeom>
          <a:solidFill>
            <a:srgbClr val="62A437"/>
          </a:solidFill>
          <a:ln>
            <a:noFill/>
          </a:ln>
        </p:spPr>
        <p:txBody>
          <a:bodyPr spcFirstLastPara="1" wrap="square" lIns="0" tIns="3175" rIns="0" bIns="0" anchor="t" anchorCtr="0">
            <a:spAutoFit/>
          </a:bodyPr>
          <a:lstStyle/>
          <a:p>
            <a:pPr marL="0" marR="0" lvl="0" indent="0" algn="l" rtl="0">
              <a:lnSpc>
                <a:spcPct val="100000"/>
              </a:lnSpc>
              <a:spcBef>
                <a:spcPts val="0"/>
              </a:spcBef>
              <a:spcAft>
                <a:spcPts val="0"/>
              </a:spcAft>
              <a:buNone/>
            </a:pPr>
            <a:endParaRPr sz="1850">
              <a:solidFill>
                <a:schemeClr val="dk1"/>
              </a:solidFill>
              <a:latin typeface="Times New Roman"/>
              <a:ea typeface="Times New Roman"/>
              <a:cs typeface="Times New Roman"/>
              <a:sym typeface="Times New Roman"/>
            </a:endParaRPr>
          </a:p>
          <a:p>
            <a:pPr marL="690880" marR="0" lvl="0" indent="0" algn="l" rtl="0">
              <a:lnSpc>
                <a:spcPct val="100000"/>
              </a:lnSpc>
              <a:spcBef>
                <a:spcPts val="5"/>
              </a:spcBef>
              <a:spcAft>
                <a:spcPts val="0"/>
              </a:spcAft>
              <a:buNone/>
            </a:pPr>
            <a:r>
              <a:rPr lang="en-US" sz="2000" b="1">
                <a:solidFill>
                  <a:srgbClr val="FFFFFF"/>
                </a:solidFill>
                <a:latin typeface="Times New Roman"/>
                <a:ea typeface="Times New Roman"/>
                <a:cs typeface="Times New Roman"/>
                <a:sym typeface="Times New Roman"/>
              </a:rPr>
              <a:t>Python</a:t>
            </a:r>
            <a:endParaRPr sz="2000">
              <a:solidFill>
                <a:schemeClr val="dk1"/>
              </a:solidFill>
              <a:latin typeface="Times New Roman"/>
              <a:ea typeface="Times New Roman"/>
              <a:cs typeface="Times New Roman"/>
              <a:sym typeface="Times New Roman"/>
            </a:endParaRPr>
          </a:p>
        </p:txBody>
      </p:sp>
      <p:sp>
        <p:nvSpPr>
          <p:cNvPr id="160" name="Google Shape;160;p9"/>
          <p:cNvSpPr txBox="1"/>
          <p:nvPr/>
        </p:nvSpPr>
        <p:spPr>
          <a:xfrm>
            <a:off x="568833" y="2986059"/>
            <a:ext cx="2162175" cy="868680"/>
          </a:xfrm>
          <a:prstGeom prst="rect">
            <a:avLst/>
          </a:prstGeom>
          <a:solidFill>
            <a:srgbClr val="62A437"/>
          </a:solidFill>
          <a:ln>
            <a:noFill/>
          </a:ln>
        </p:spPr>
        <p:txBody>
          <a:bodyPr spcFirstLastPara="1" wrap="square" lIns="0" tIns="3175" rIns="0" bIns="0" anchor="t" anchorCtr="0">
            <a:spAutoFit/>
          </a:bodyPr>
          <a:lstStyle/>
          <a:p>
            <a:pPr marL="0" marR="0" lvl="0" indent="0" algn="l" rtl="0">
              <a:lnSpc>
                <a:spcPct val="100000"/>
              </a:lnSpc>
              <a:spcBef>
                <a:spcPts val="0"/>
              </a:spcBef>
              <a:spcAft>
                <a:spcPts val="0"/>
              </a:spcAft>
              <a:buNone/>
            </a:pPr>
            <a:endParaRPr sz="1850">
              <a:solidFill>
                <a:schemeClr val="dk1"/>
              </a:solidFill>
              <a:latin typeface="Times New Roman"/>
              <a:ea typeface="Times New Roman"/>
              <a:cs typeface="Times New Roman"/>
              <a:sym typeface="Times New Roman"/>
            </a:endParaRPr>
          </a:p>
          <a:p>
            <a:pPr marL="0" marR="0" lvl="0" indent="0" algn="ctr" rtl="0">
              <a:lnSpc>
                <a:spcPct val="100000"/>
              </a:lnSpc>
              <a:spcBef>
                <a:spcPts val="5"/>
              </a:spcBef>
              <a:spcAft>
                <a:spcPts val="0"/>
              </a:spcAft>
              <a:buNone/>
            </a:pPr>
            <a:r>
              <a:rPr lang="en-US" sz="2000" b="1">
                <a:solidFill>
                  <a:srgbClr val="FFFFFF"/>
                </a:solidFill>
                <a:latin typeface="Times New Roman"/>
                <a:ea typeface="Times New Roman"/>
                <a:cs typeface="Times New Roman"/>
                <a:sym typeface="Times New Roman"/>
              </a:rPr>
              <a:t>Colab</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0"/>
          <p:cNvSpPr txBox="1">
            <a:spLocks noGrp="1"/>
          </p:cNvSpPr>
          <p:nvPr>
            <p:ph type="title"/>
          </p:nvPr>
        </p:nvSpPr>
        <p:spPr>
          <a:xfrm>
            <a:off x="460873" y="25728"/>
            <a:ext cx="10515600" cy="1043525"/>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Proposed Methodology</a:t>
            </a:r>
            <a:endParaRPr sz="3600" b="1">
              <a:latin typeface="Times New Roman"/>
              <a:ea typeface="Times New Roman"/>
              <a:cs typeface="Times New Roman"/>
              <a:sym typeface="Times New Roman"/>
            </a:endParaRPr>
          </a:p>
        </p:txBody>
      </p:sp>
      <p:sp>
        <p:nvSpPr>
          <p:cNvPr id="167" name="Google Shape;167;p10"/>
          <p:cNvSpPr/>
          <p:nvPr/>
        </p:nvSpPr>
        <p:spPr>
          <a:xfrm>
            <a:off x="52235" y="1023980"/>
            <a:ext cx="1694395" cy="1786466"/>
          </a:xfrm>
          <a:prstGeom prst="flowChartMagneticDisk">
            <a:avLst/>
          </a:prstGeom>
          <a:solidFill>
            <a:srgbClr val="385623"/>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600" b="1" dirty="0">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1600" b="1" dirty="0">
                <a:solidFill>
                  <a:schemeClr val="lt1"/>
                </a:solidFill>
                <a:latin typeface="Times New Roman"/>
                <a:ea typeface="Times New Roman"/>
                <a:cs typeface="Times New Roman"/>
                <a:sym typeface="Times New Roman"/>
              </a:rPr>
              <a:t>Data Collection</a:t>
            </a:r>
            <a:endParaRPr lang="en-US" sz="1800" dirty="0">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1800" dirty="0">
                <a:solidFill>
                  <a:schemeClr val="lt1"/>
                </a:solidFill>
                <a:latin typeface="Times New Roman"/>
                <a:ea typeface="Times New Roman"/>
                <a:cs typeface="Times New Roman"/>
                <a:sym typeface="Times New Roman"/>
              </a:rPr>
              <a:t>(</a:t>
            </a:r>
            <a:r>
              <a:rPr lang="en-US" sz="1400" dirty="0">
                <a:solidFill>
                  <a:schemeClr val="lt1"/>
                </a:solidFill>
                <a:latin typeface="Times New Roman"/>
                <a:ea typeface="Times New Roman"/>
                <a:cs typeface="Times New Roman"/>
                <a:sym typeface="Times New Roman"/>
              </a:rPr>
              <a:t>Bangla Sports Sentiment Analysis Dataset</a:t>
            </a:r>
            <a:r>
              <a:rPr lang="en-US" sz="1800" dirty="0">
                <a:solidFill>
                  <a:schemeClr val="lt1"/>
                </a:solidFill>
                <a:latin typeface="Times New Roman"/>
                <a:ea typeface="Times New Roman"/>
                <a:cs typeface="Times New Roman"/>
                <a:sym typeface="Times New Roman"/>
              </a:rPr>
              <a:t>)</a:t>
            </a:r>
          </a:p>
        </p:txBody>
      </p:sp>
      <p:sp>
        <p:nvSpPr>
          <p:cNvPr id="168" name="Google Shape;168;p10"/>
          <p:cNvSpPr/>
          <p:nvPr/>
        </p:nvSpPr>
        <p:spPr>
          <a:xfrm>
            <a:off x="2470320" y="1105103"/>
            <a:ext cx="1876454" cy="1892109"/>
          </a:xfrm>
          <a:prstGeom prst="rect">
            <a:avLst/>
          </a:prstGeom>
          <a:solidFill>
            <a:srgbClr val="385623"/>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600" b="1" dirty="0">
              <a:solidFill>
                <a:srgbClr val="FFFFFF"/>
              </a:solidFill>
              <a:latin typeface="Times New Roman"/>
              <a:ea typeface="Times New Roman"/>
              <a:cs typeface="Times New Roman"/>
              <a:sym typeface="Times New Roman"/>
            </a:endParaRPr>
          </a:p>
          <a:p>
            <a:pPr marL="0" marR="0" lvl="0" indent="0" algn="ctr" rtl="0">
              <a:spcBef>
                <a:spcPts val="0"/>
              </a:spcBef>
              <a:spcAft>
                <a:spcPts val="0"/>
              </a:spcAft>
              <a:buNone/>
            </a:pPr>
            <a:r>
              <a:rPr lang="en-US" sz="1600" b="1" u="sng" dirty="0">
                <a:solidFill>
                  <a:srgbClr val="FFFFFF"/>
                </a:solidFill>
                <a:latin typeface="Times New Roman"/>
                <a:ea typeface="Times New Roman"/>
                <a:cs typeface="Times New Roman"/>
                <a:sym typeface="Times New Roman"/>
              </a:rPr>
              <a:t>Preprocessing</a:t>
            </a:r>
            <a:endParaRPr lang="en-US" u="sng" dirty="0"/>
          </a:p>
          <a:p>
            <a:pPr marL="0" marR="0" lvl="0" indent="0" rtl="0">
              <a:spcBef>
                <a:spcPts val="0"/>
              </a:spcBef>
              <a:spcAft>
                <a:spcPts val="0"/>
              </a:spcAft>
              <a:buNone/>
            </a:pPr>
            <a:r>
              <a:rPr lang="en-US" sz="1400" dirty="0">
                <a:solidFill>
                  <a:srgbClr val="FFFFFF"/>
                </a:solidFill>
                <a:latin typeface="Times New Roman"/>
                <a:ea typeface="Times New Roman"/>
                <a:cs typeface="Times New Roman"/>
                <a:sym typeface="Times New Roman"/>
              </a:rPr>
              <a:t>1.Stop word Removal</a:t>
            </a:r>
            <a:endParaRPr lang="en-US" sz="1400" dirty="0">
              <a:solidFill>
                <a:schemeClr val="lt1"/>
              </a:solidFill>
              <a:latin typeface="Times New Roman"/>
              <a:ea typeface="Times New Roman"/>
              <a:cs typeface="Times New Roman"/>
              <a:sym typeface="Times New Roman"/>
            </a:endParaRPr>
          </a:p>
          <a:p>
            <a:pPr marL="0" marR="0" lvl="0" indent="0" rtl="0">
              <a:spcBef>
                <a:spcPts val="0"/>
              </a:spcBef>
              <a:spcAft>
                <a:spcPts val="0"/>
              </a:spcAft>
              <a:buNone/>
            </a:pPr>
            <a:r>
              <a:rPr lang="en-US" sz="1400" dirty="0">
                <a:solidFill>
                  <a:srgbClr val="FFFFFF"/>
                </a:solidFill>
                <a:latin typeface="Times New Roman"/>
                <a:ea typeface="Times New Roman"/>
                <a:cs typeface="Times New Roman"/>
                <a:sym typeface="Times New Roman"/>
              </a:rPr>
              <a:t>2.Duplicates  Removal</a:t>
            </a:r>
          </a:p>
          <a:p>
            <a:pPr marL="0" marR="0" lvl="0" indent="0" rtl="0">
              <a:spcBef>
                <a:spcPts val="0"/>
              </a:spcBef>
              <a:spcAft>
                <a:spcPts val="0"/>
              </a:spcAft>
              <a:buNone/>
            </a:pPr>
            <a:r>
              <a:rPr lang="en-US" sz="1400" dirty="0">
                <a:solidFill>
                  <a:srgbClr val="FFFFFF"/>
                </a:solidFill>
                <a:latin typeface="Times New Roman"/>
                <a:ea typeface="Times New Roman"/>
                <a:cs typeface="Times New Roman"/>
                <a:sym typeface="Times New Roman"/>
              </a:rPr>
              <a:t>3.Emoji removal</a:t>
            </a:r>
            <a:endParaRPr lang="en-US" dirty="0">
              <a:solidFill>
                <a:srgbClr val="FFFFFF"/>
              </a:solidFill>
              <a:latin typeface="Times New Roman"/>
              <a:ea typeface="Times New Roman"/>
              <a:cs typeface="Times New Roman"/>
              <a:sym typeface="Times New Roman"/>
            </a:endParaRPr>
          </a:p>
          <a:p>
            <a:pPr marL="0" marR="0" lvl="0" indent="0" rtl="0">
              <a:spcBef>
                <a:spcPts val="0"/>
              </a:spcBef>
              <a:spcAft>
                <a:spcPts val="0"/>
              </a:spcAft>
              <a:buNone/>
            </a:pPr>
            <a:r>
              <a:rPr lang="en-US" sz="1400" dirty="0">
                <a:solidFill>
                  <a:srgbClr val="FFFFFF"/>
                </a:solidFill>
                <a:latin typeface="Times New Roman"/>
                <a:ea typeface="Times New Roman"/>
                <a:cs typeface="Times New Roman"/>
                <a:sym typeface="Times New Roman"/>
              </a:rPr>
              <a:t>4.Stemming</a:t>
            </a:r>
          </a:p>
          <a:p>
            <a:pPr marL="0" marR="0" lvl="0" indent="0" rtl="0">
              <a:spcBef>
                <a:spcPts val="0"/>
              </a:spcBef>
              <a:spcAft>
                <a:spcPts val="0"/>
              </a:spcAft>
              <a:buNone/>
            </a:pPr>
            <a:r>
              <a:rPr lang="en-US" sz="1400" dirty="0">
                <a:solidFill>
                  <a:srgbClr val="FFFFFF"/>
                </a:solidFill>
                <a:latin typeface="Times New Roman"/>
                <a:ea typeface="Times New Roman"/>
                <a:cs typeface="Times New Roman"/>
                <a:sym typeface="Times New Roman"/>
              </a:rPr>
              <a:t>5.Lemmatization</a:t>
            </a:r>
          </a:p>
          <a:p>
            <a:pPr marL="0" marR="0" lvl="0" indent="0" rtl="0">
              <a:spcBef>
                <a:spcPts val="0"/>
              </a:spcBef>
              <a:spcAft>
                <a:spcPts val="0"/>
              </a:spcAft>
              <a:buNone/>
            </a:pPr>
            <a:endParaRPr lang="en-US" dirty="0"/>
          </a:p>
          <a:p>
            <a:pPr marL="0" marR="0" lvl="0" indent="0" algn="ctr" rtl="0">
              <a:spcBef>
                <a:spcPts val="0"/>
              </a:spcBef>
              <a:spcAft>
                <a:spcPts val="0"/>
              </a:spcAft>
              <a:buNone/>
            </a:pPr>
            <a:endParaRPr lang="en-US" sz="1600" dirty="0">
              <a:solidFill>
                <a:srgbClr val="FFFFFF"/>
              </a:solidFill>
              <a:latin typeface="Times New Roman"/>
              <a:ea typeface="Times New Roman"/>
              <a:cs typeface="Times New Roman"/>
              <a:sym typeface="Times New Roman"/>
            </a:endParaRPr>
          </a:p>
          <a:p>
            <a:pPr marL="0" marR="0" lvl="0" indent="0" algn="ctr" rtl="0">
              <a:spcBef>
                <a:spcPts val="0"/>
              </a:spcBef>
              <a:spcAft>
                <a:spcPts val="0"/>
              </a:spcAft>
              <a:buNone/>
            </a:pPr>
            <a:endParaRPr lang="en-US" sz="1200" dirty="0">
              <a:solidFill>
                <a:srgbClr val="FFFFFF"/>
              </a:solidFill>
              <a:latin typeface="Times New Roman"/>
              <a:ea typeface="Times New Roman"/>
              <a:cs typeface="Times New Roman"/>
              <a:sym typeface="Times New Roman"/>
            </a:endParaRPr>
          </a:p>
        </p:txBody>
      </p:sp>
      <p:sp>
        <p:nvSpPr>
          <p:cNvPr id="169" name="Google Shape;169;p10"/>
          <p:cNvSpPr/>
          <p:nvPr/>
        </p:nvSpPr>
        <p:spPr>
          <a:xfrm>
            <a:off x="5070465" y="1273080"/>
            <a:ext cx="1978636" cy="1701799"/>
          </a:xfrm>
          <a:prstGeom prst="rect">
            <a:avLst/>
          </a:prstGeom>
          <a:solidFill>
            <a:srgbClr val="385623"/>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1" dirty="0">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endParaRPr sz="1600" b="1" dirty="0">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1600" b="1" dirty="0">
                <a:solidFill>
                  <a:schemeClr val="lt1"/>
                </a:solidFill>
                <a:latin typeface="Times New Roman"/>
                <a:ea typeface="Times New Roman"/>
                <a:cs typeface="Times New Roman"/>
                <a:sym typeface="Times New Roman"/>
              </a:rPr>
              <a:t>Feature Extraction</a:t>
            </a:r>
            <a:endParaRPr dirty="0"/>
          </a:p>
          <a:p>
            <a:pPr marL="0" marR="0" lvl="0" indent="0" algn="ctr" rtl="0">
              <a:spcBef>
                <a:spcPts val="0"/>
              </a:spcBef>
              <a:spcAft>
                <a:spcPts val="0"/>
              </a:spcAft>
              <a:buNone/>
            </a:pPr>
            <a:r>
              <a:rPr lang="en-US" sz="1400" dirty="0">
                <a:solidFill>
                  <a:schemeClr val="lt1"/>
                </a:solidFill>
                <a:latin typeface="Times New Roman"/>
                <a:ea typeface="Times New Roman"/>
                <a:cs typeface="Times New Roman"/>
                <a:sym typeface="Times New Roman"/>
              </a:rPr>
              <a:t>Glove</a:t>
            </a:r>
            <a:endParaRPr dirty="0"/>
          </a:p>
          <a:p>
            <a:pPr marL="0" marR="0" lvl="0" indent="0" algn="ctr" rtl="0">
              <a:spcBef>
                <a:spcPts val="0"/>
              </a:spcBef>
              <a:spcAft>
                <a:spcPts val="0"/>
              </a:spcAft>
              <a:buNone/>
            </a:pPr>
            <a:r>
              <a:rPr lang="en-US" sz="1400" dirty="0">
                <a:solidFill>
                  <a:schemeClr val="lt1"/>
                </a:solidFill>
                <a:latin typeface="Times New Roman"/>
                <a:ea typeface="Times New Roman"/>
                <a:cs typeface="Times New Roman"/>
                <a:sym typeface="Times New Roman"/>
              </a:rPr>
              <a:t>TF-IDF</a:t>
            </a:r>
            <a:endParaRPr dirty="0"/>
          </a:p>
          <a:p>
            <a:pPr marL="0" marR="0" lvl="0" indent="0" algn="ctr" rtl="0">
              <a:spcBef>
                <a:spcPts val="0"/>
              </a:spcBef>
              <a:spcAft>
                <a:spcPts val="0"/>
              </a:spcAft>
              <a:buNone/>
            </a:pPr>
            <a:r>
              <a:rPr lang="en-US" sz="1400" dirty="0">
                <a:solidFill>
                  <a:schemeClr val="lt1"/>
                </a:solidFill>
                <a:latin typeface="Times New Roman"/>
                <a:ea typeface="Times New Roman"/>
                <a:cs typeface="Times New Roman"/>
                <a:sym typeface="Times New Roman"/>
              </a:rPr>
              <a:t>Word2-Vec</a:t>
            </a:r>
            <a:endParaRPr dirty="0"/>
          </a:p>
          <a:p>
            <a:pPr marL="0" marR="0" lvl="0" indent="0" algn="ctr" rtl="0">
              <a:spcBef>
                <a:spcPts val="0"/>
              </a:spcBef>
              <a:spcAft>
                <a:spcPts val="0"/>
              </a:spcAft>
              <a:buNone/>
            </a:pPr>
            <a:endParaRPr sz="1600" b="1" dirty="0">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endParaRPr sz="1600" b="1" dirty="0">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endParaRPr sz="1600" b="1" dirty="0">
              <a:solidFill>
                <a:schemeClr val="lt1"/>
              </a:solidFill>
              <a:latin typeface="Times New Roman"/>
              <a:ea typeface="Times New Roman"/>
              <a:cs typeface="Times New Roman"/>
              <a:sym typeface="Times New Roman"/>
            </a:endParaRPr>
          </a:p>
        </p:txBody>
      </p:sp>
      <p:sp>
        <p:nvSpPr>
          <p:cNvPr id="170" name="Google Shape;170;p10"/>
          <p:cNvSpPr/>
          <p:nvPr/>
        </p:nvSpPr>
        <p:spPr>
          <a:xfrm>
            <a:off x="7634019" y="1683553"/>
            <a:ext cx="1236133" cy="986502"/>
          </a:xfrm>
          <a:prstGeom prst="rect">
            <a:avLst/>
          </a:prstGeom>
          <a:solidFill>
            <a:srgbClr val="385623"/>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dirty="0">
                <a:solidFill>
                  <a:schemeClr val="lt1"/>
                </a:solidFill>
                <a:latin typeface="Times New Roman"/>
                <a:ea typeface="Times New Roman"/>
                <a:cs typeface="Times New Roman"/>
                <a:sym typeface="Times New Roman"/>
              </a:rPr>
              <a:t>Data Split</a:t>
            </a:r>
          </a:p>
          <a:p>
            <a:pPr marL="0" marR="0" lvl="0" indent="0" algn="ctr" rtl="0">
              <a:spcBef>
                <a:spcPts val="0"/>
              </a:spcBef>
              <a:spcAft>
                <a:spcPts val="0"/>
              </a:spcAft>
              <a:buNone/>
            </a:pPr>
            <a:endParaRPr dirty="0"/>
          </a:p>
        </p:txBody>
      </p:sp>
      <p:sp>
        <p:nvSpPr>
          <p:cNvPr id="171" name="Google Shape;171;p10"/>
          <p:cNvSpPr/>
          <p:nvPr/>
        </p:nvSpPr>
        <p:spPr>
          <a:xfrm>
            <a:off x="9322257" y="1664371"/>
            <a:ext cx="2151063" cy="1007535"/>
          </a:xfrm>
          <a:prstGeom prst="rect">
            <a:avLst/>
          </a:prstGeom>
          <a:solidFill>
            <a:srgbClr val="385623"/>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a:solidFill>
                  <a:schemeClr val="lt1"/>
                </a:solidFill>
                <a:latin typeface="Times New Roman"/>
                <a:ea typeface="Times New Roman"/>
                <a:cs typeface="Times New Roman"/>
                <a:sym typeface="Times New Roman"/>
              </a:rPr>
              <a:t>Train </a:t>
            </a:r>
            <a:r>
              <a:rPr lang="en-US" sz="1600" b="1" dirty="0">
                <a:solidFill>
                  <a:schemeClr val="lt1"/>
                </a:solidFill>
                <a:latin typeface="Times New Roman"/>
                <a:ea typeface="Times New Roman"/>
                <a:cs typeface="Times New Roman"/>
                <a:sym typeface="Times New Roman"/>
              </a:rPr>
              <a:t>Data</a:t>
            </a:r>
            <a:endParaRPr dirty="0"/>
          </a:p>
          <a:p>
            <a:pPr marL="0" marR="0" lvl="0" indent="0" algn="ctr" rtl="0">
              <a:spcBef>
                <a:spcPts val="0"/>
              </a:spcBef>
              <a:spcAft>
                <a:spcPts val="0"/>
              </a:spcAft>
              <a:buNone/>
            </a:pPr>
            <a:endParaRPr dirty="0"/>
          </a:p>
        </p:txBody>
      </p:sp>
      <p:sp>
        <p:nvSpPr>
          <p:cNvPr id="172" name="Google Shape;172;p10"/>
          <p:cNvSpPr/>
          <p:nvPr/>
        </p:nvSpPr>
        <p:spPr>
          <a:xfrm>
            <a:off x="9389001" y="3052525"/>
            <a:ext cx="2151063" cy="517779"/>
          </a:xfrm>
          <a:prstGeom prst="rect">
            <a:avLst/>
          </a:prstGeom>
          <a:solidFill>
            <a:srgbClr val="385623"/>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Times New Roman"/>
                <a:ea typeface="Times New Roman"/>
                <a:cs typeface="Times New Roman"/>
                <a:sym typeface="Times New Roman"/>
              </a:rPr>
              <a:t>Algorithms</a:t>
            </a:r>
            <a:endParaRPr/>
          </a:p>
        </p:txBody>
      </p:sp>
      <p:sp>
        <p:nvSpPr>
          <p:cNvPr id="173" name="Google Shape;173;p10"/>
          <p:cNvSpPr/>
          <p:nvPr/>
        </p:nvSpPr>
        <p:spPr>
          <a:xfrm>
            <a:off x="9388997" y="3578628"/>
            <a:ext cx="2151063" cy="883520"/>
          </a:xfrm>
          <a:prstGeom prst="rect">
            <a:avLst/>
          </a:prstGeom>
          <a:solidFill>
            <a:srgbClr val="385623"/>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Times New Roman"/>
                <a:ea typeface="Times New Roman"/>
                <a:cs typeface="Times New Roman"/>
                <a:sym typeface="Times New Roman"/>
              </a:rPr>
              <a:t>ML</a:t>
            </a:r>
            <a:endParaRPr/>
          </a:p>
          <a:p>
            <a:pPr marL="0" marR="0" lvl="0" indent="0" algn="ctr" rtl="0">
              <a:spcBef>
                <a:spcPts val="0"/>
              </a:spcBef>
              <a:spcAft>
                <a:spcPts val="0"/>
              </a:spcAft>
              <a:buNone/>
            </a:pPr>
            <a:r>
              <a:rPr lang="en-US" sz="1400">
                <a:solidFill>
                  <a:schemeClr val="lt1"/>
                </a:solidFill>
                <a:latin typeface="Times New Roman"/>
                <a:ea typeface="Times New Roman"/>
                <a:cs typeface="Times New Roman"/>
                <a:sym typeface="Times New Roman"/>
              </a:rPr>
              <a:t>RF,NB,DT,LR,KNN,</a:t>
            </a:r>
            <a:endParaRPr sz="1400">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1400">
                <a:solidFill>
                  <a:schemeClr val="lt1"/>
                </a:solidFill>
                <a:latin typeface="Times New Roman"/>
                <a:ea typeface="Times New Roman"/>
                <a:cs typeface="Times New Roman"/>
                <a:sym typeface="Times New Roman"/>
              </a:rPr>
              <a:t>SVM,XGB</a:t>
            </a:r>
            <a:endParaRPr/>
          </a:p>
        </p:txBody>
      </p:sp>
      <p:sp>
        <p:nvSpPr>
          <p:cNvPr id="174" name="Google Shape;174;p10"/>
          <p:cNvSpPr/>
          <p:nvPr/>
        </p:nvSpPr>
        <p:spPr>
          <a:xfrm>
            <a:off x="7324960" y="3130796"/>
            <a:ext cx="1716657" cy="727849"/>
          </a:xfrm>
          <a:prstGeom prst="rect">
            <a:avLst/>
          </a:prstGeom>
          <a:solidFill>
            <a:srgbClr val="385623"/>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dirty="0">
                <a:solidFill>
                  <a:schemeClr val="lt1"/>
                </a:solidFill>
                <a:latin typeface="Times New Roman"/>
                <a:ea typeface="Times New Roman"/>
                <a:cs typeface="Times New Roman"/>
                <a:sym typeface="Times New Roman"/>
              </a:rPr>
              <a:t>Test Data</a:t>
            </a:r>
            <a:endParaRPr dirty="0"/>
          </a:p>
          <a:p>
            <a:pPr marL="0" marR="0" lvl="0" indent="0" algn="ctr" rtl="0">
              <a:spcBef>
                <a:spcPts val="0"/>
              </a:spcBef>
              <a:spcAft>
                <a:spcPts val="0"/>
              </a:spcAft>
              <a:buNone/>
            </a:pPr>
            <a:endParaRPr dirty="0"/>
          </a:p>
        </p:txBody>
      </p:sp>
      <p:sp>
        <p:nvSpPr>
          <p:cNvPr id="175" name="Google Shape;175;p10"/>
          <p:cNvSpPr/>
          <p:nvPr/>
        </p:nvSpPr>
        <p:spPr>
          <a:xfrm>
            <a:off x="3041787" y="3926014"/>
            <a:ext cx="1735406" cy="1381749"/>
          </a:xfrm>
          <a:prstGeom prst="rect">
            <a:avLst/>
          </a:prstGeom>
          <a:solidFill>
            <a:srgbClr val="385623"/>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dirty="0">
                <a:solidFill>
                  <a:schemeClr val="lt1"/>
                </a:solidFill>
                <a:latin typeface="Times New Roman"/>
                <a:ea typeface="Times New Roman"/>
                <a:cs typeface="Times New Roman"/>
                <a:sym typeface="Times New Roman"/>
              </a:rPr>
              <a:t>Predict</a:t>
            </a:r>
            <a:endParaRPr dirty="0"/>
          </a:p>
          <a:p>
            <a:pPr marL="0" marR="0" lvl="0" indent="0" algn="ctr" rtl="0">
              <a:spcBef>
                <a:spcPts val="0"/>
              </a:spcBef>
              <a:spcAft>
                <a:spcPts val="0"/>
              </a:spcAft>
              <a:buNone/>
            </a:pPr>
            <a:r>
              <a:rPr lang="en-US" sz="1400" dirty="0">
                <a:solidFill>
                  <a:schemeClr val="lt1"/>
                </a:solidFill>
                <a:latin typeface="Times New Roman"/>
                <a:ea typeface="Times New Roman"/>
                <a:cs typeface="Times New Roman"/>
                <a:sym typeface="Times New Roman"/>
              </a:rPr>
              <a:t>Positive</a:t>
            </a:r>
            <a:endParaRPr dirty="0"/>
          </a:p>
          <a:p>
            <a:pPr marL="0" marR="0" lvl="0" indent="0" algn="ctr" rtl="0">
              <a:spcBef>
                <a:spcPts val="0"/>
              </a:spcBef>
              <a:spcAft>
                <a:spcPts val="0"/>
              </a:spcAft>
              <a:buNone/>
            </a:pPr>
            <a:r>
              <a:rPr lang="en-US" sz="1400" dirty="0">
                <a:solidFill>
                  <a:schemeClr val="lt1"/>
                </a:solidFill>
                <a:latin typeface="Times New Roman"/>
                <a:ea typeface="Times New Roman"/>
                <a:cs typeface="Times New Roman"/>
                <a:sym typeface="Times New Roman"/>
              </a:rPr>
              <a:t>Negative</a:t>
            </a:r>
            <a:endParaRPr dirty="0"/>
          </a:p>
        </p:txBody>
      </p:sp>
      <p:sp>
        <p:nvSpPr>
          <p:cNvPr id="176" name="Google Shape;176;p10"/>
          <p:cNvSpPr/>
          <p:nvPr/>
        </p:nvSpPr>
        <p:spPr>
          <a:xfrm>
            <a:off x="5183483" y="3858645"/>
            <a:ext cx="1752599" cy="1701799"/>
          </a:xfrm>
          <a:prstGeom prst="rect">
            <a:avLst/>
          </a:prstGeom>
          <a:solidFill>
            <a:srgbClr val="385623"/>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dirty="0">
                <a:solidFill>
                  <a:schemeClr val="lt1"/>
                </a:solidFill>
                <a:latin typeface="Times New Roman"/>
                <a:ea typeface="Times New Roman"/>
                <a:cs typeface="Times New Roman"/>
                <a:sym typeface="Times New Roman"/>
              </a:rPr>
              <a:t>Evaluation</a:t>
            </a:r>
            <a:r>
              <a:rPr lang="en-US" sz="1800" b="1" dirty="0">
                <a:solidFill>
                  <a:schemeClr val="lt1"/>
                </a:solidFill>
                <a:latin typeface="Times New Roman"/>
                <a:ea typeface="Times New Roman"/>
                <a:cs typeface="Times New Roman"/>
                <a:sym typeface="Times New Roman"/>
              </a:rPr>
              <a:t> </a:t>
            </a:r>
            <a:endParaRPr dirty="0"/>
          </a:p>
          <a:p>
            <a:pPr marL="0" marR="0" lvl="0" indent="0" algn="ctr" rtl="0">
              <a:spcBef>
                <a:spcPts val="0"/>
              </a:spcBef>
              <a:spcAft>
                <a:spcPts val="0"/>
              </a:spcAft>
              <a:buNone/>
            </a:pPr>
            <a:r>
              <a:rPr lang="en-US" sz="1400" dirty="0">
                <a:solidFill>
                  <a:schemeClr val="lt1"/>
                </a:solidFill>
                <a:latin typeface="Times New Roman"/>
                <a:ea typeface="Times New Roman"/>
                <a:cs typeface="Times New Roman"/>
                <a:sym typeface="Times New Roman"/>
              </a:rPr>
              <a:t>Accuracy</a:t>
            </a:r>
            <a:endParaRPr dirty="0"/>
          </a:p>
          <a:p>
            <a:pPr marL="0" marR="0" lvl="0" indent="0" algn="ctr" rtl="0">
              <a:spcBef>
                <a:spcPts val="0"/>
              </a:spcBef>
              <a:spcAft>
                <a:spcPts val="0"/>
              </a:spcAft>
              <a:buNone/>
            </a:pPr>
            <a:r>
              <a:rPr lang="en-US" sz="1400" dirty="0">
                <a:solidFill>
                  <a:schemeClr val="lt1"/>
                </a:solidFill>
                <a:latin typeface="Times New Roman"/>
                <a:ea typeface="Times New Roman"/>
                <a:cs typeface="Times New Roman"/>
                <a:sym typeface="Times New Roman"/>
              </a:rPr>
              <a:t>Precision</a:t>
            </a:r>
            <a:endParaRPr dirty="0"/>
          </a:p>
          <a:p>
            <a:pPr marL="0" marR="0" lvl="0" indent="0" algn="ctr" rtl="0">
              <a:spcBef>
                <a:spcPts val="0"/>
              </a:spcBef>
              <a:spcAft>
                <a:spcPts val="0"/>
              </a:spcAft>
              <a:buNone/>
            </a:pPr>
            <a:r>
              <a:rPr lang="en-US" sz="1400" dirty="0">
                <a:solidFill>
                  <a:schemeClr val="lt1"/>
                </a:solidFill>
                <a:latin typeface="Times New Roman"/>
                <a:ea typeface="Times New Roman"/>
                <a:cs typeface="Times New Roman"/>
                <a:sym typeface="Times New Roman"/>
              </a:rPr>
              <a:t>Recall</a:t>
            </a:r>
            <a:endParaRPr dirty="0"/>
          </a:p>
          <a:p>
            <a:pPr marL="0" marR="0" lvl="0" indent="0" algn="ctr" rtl="0">
              <a:spcBef>
                <a:spcPts val="0"/>
              </a:spcBef>
              <a:spcAft>
                <a:spcPts val="0"/>
              </a:spcAft>
              <a:buNone/>
            </a:pPr>
            <a:r>
              <a:rPr lang="en-US" sz="1400" dirty="0">
                <a:solidFill>
                  <a:schemeClr val="lt1"/>
                </a:solidFill>
                <a:latin typeface="Times New Roman"/>
                <a:ea typeface="Times New Roman"/>
                <a:cs typeface="Times New Roman"/>
                <a:sym typeface="Times New Roman"/>
              </a:rPr>
              <a:t>F1 Score</a:t>
            </a:r>
            <a:endParaRPr dirty="0"/>
          </a:p>
        </p:txBody>
      </p:sp>
      <p:sp>
        <p:nvSpPr>
          <p:cNvPr id="177" name="Google Shape;177;p10"/>
          <p:cNvSpPr/>
          <p:nvPr/>
        </p:nvSpPr>
        <p:spPr>
          <a:xfrm>
            <a:off x="1770201" y="2114205"/>
            <a:ext cx="667748" cy="321734"/>
          </a:xfrm>
          <a:prstGeom prst="rightArrow">
            <a:avLst>
              <a:gd name="adj1" fmla="val 50000"/>
              <a:gd name="adj2" fmla="val 50000"/>
            </a:avLst>
          </a:prstGeom>
          <a:solidFill>
            <a:srgbClr val="3F3F3F"/>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
        <p:nvSpPr>
          <p:cNvPr id="178" name="Google Shape;178;p10"/>
          <p:cNvSpPr/>
          <p:nvPr/>
        </p:nvSpPr>
        <p:spPr>
          <a:xfrm>
            <a:off x="4346774" y="2132089"/>
            <a:ext cx="728663" cy="285965"/>
          </a:xfrm>
          <a:prstGeom prst="rightArrow">
            <a:avLst>
              <a:gd name="adj1" fmla="val 50000"/>
              <a:gd name="adj2" fmla="val 50000"/>
            </a:avLst>
          </a:prstGeom>
          <a:solidFill>
            <a:srgbClr val="3F3F3F"/>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
        <p:nvSpPr>
          <p:cNvPr id="179" name="Google Shape;179;p10"/>
          <p:cNvSpPr/>
          <p:nvPr/>
        </p:nvSpPr>
        <p:spPr>
          <a:xfrm>
            <a:off x="7063050" y="2192946"/>
            <a:ext cx="570969" cy="285964"/>
          </a:xfrm>
          <a:prstGeom prst="rightArrow">
            <a:avLst>
              <a:gd name="adj1" fmla="val 50000"/>
              <a:gd name="adj2" fmla="val 50000"/>
            </a:avLst>
          </a:prstGeom>
          <a:solidFill>
            <a:srgbClr val="3F3F3F"/>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
        <p:nvSpPr>
          <p:cNvPr id="180" name="Google Shape;180;p10"/>
          <p:cNvSpPr/>
          <p:nvPr/>
        </p:nvSpPr>
        <p:spPr>
          <a:xfrm>
            <a:off x="8183290" y="2691087"/>
            <a:ext cx="215646" cy="418677"/>
          </a:xfrm>
          <a:prstGeom prst="downArrow">
            <a:avLst>
              <a:gd name="adj1" fmla="val 50000"/>
              <a:gd name="adj2" fmla="val 50000"/>
            </a:avLst>
          </a:prstGeom>
          <a:solidFill>
            <a:srgbClr val="595959"/>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
        <p:nvSpPr>
          <p:cNvPr id="181" name="Google Shape;18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sz="1800" b="1" dirty="0">
                <a:solidFill>
                  <a:srgbClr val="171616"/>
                </a:solidFill>
                <a:latin typeface="Times New Roman"/>
                <a:ea typeface="Times New Roman"/>
                <a:cs typeface="Times New Roman"/>
                <a:sym typeface="Times New Roman"/>
              </a:rPr>
              <a:t>10</a:t>
            </a:r>
            <a:endParaRPr dirty="0"/>
          </a:p>
        </p:txBody>
      </p:sp>
      <p:sp>
        <p:nvSpPr>
          <p:cNvPr id="182" name="Google Shape;182;p10"/>
          <p:cNvSpPr/>
          <p:nvPr/>
        </p:nvSpPr>
        <p:spPr>
          <a:xfrm>
            <a:off x="7335833" y="4287051"/>
            <a:ext cx="1651002" cy="592668"/>
          </a:xfrm>
          <a:prstGeom prst="rect">
            <a:avLst/>
          </a:prstGeom>
          <a:solidFill>
            <a:srgbClr val="385623"/>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lt1"/>
                </a:solidFill>
                <a:latin typeface="Times New Roman"/>
                <a:ea typeface="Times New Roman"/>
                <a:cs typeface="Times New Roman"/>
                <a:sym typeface="Times New Roman"/>
              </a:rPr>
              <a:t>Trained Model</a:t>
            </a:r>
            <a:endParaRPr/>
          </a:p>
        </p:txBody>
      </p:sp>
      <p:sp>
        <p:nvSpPr>
          <p:cNvPr id="183" name="Google Shape;183;p10"/>
          <p:cNvSpPr/>
          <p:nvPr/>
        </p:nvSpPr>
        <p:spPr>
          <a:xfrm>
            <a:off x="8895123" y="2186302"/>
            <a:ext cx="402163" cy="249637"/>
          </a:xfrm>
          <a:prstGeom prst="rightArrow">
            <a:avLst>
              <a:gd name="adj1" fmla="val 50000"/>
              <a:gd name="adj2" fmla="val 50000"/>
            </a:avLst>
          </a:prstGeom>
          <a:solidFill>
            <a:srgbClr val="3F3F3F"/>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
        <p:nvSpPr>
          <p:cNvPr id="184" name="Google Shape;184;p10"/>
          <p:cNvSpPr/>
          <p:nvPr/>
        </p:nvSpPr>
        <p:spPr>
          <a:xfrm>
            <a:off x="10230928" y="2672539"/>
            <a:ext cx="196562" cy="342912"/>
          </a:xfrm>
          <a:prstGeom prst="downArrow">
            <a:avLst>
              <a:gd name="adj1" fmla="val 50000"/>
              <a:gd name="adj2" fmla="val 50000"/>
            </a:avLst>
          </a:prstGeom>
          <a:solidFill>
            <a:srgbClr val="595959"/>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
        <p:nvSpPr>
          <p:cNvPr id="185" name="Google Shape;185;p10"/>
          <p:cNvSpPr/>
          <p:nvPr/>
        </p:nvSpPr>
        <p:spPr>
          <a:xfrm>
            <a:off x="9041617" y="4470473"/>
            <a:ext cx="347381" cy="225824"/>
          </a:xfrm>
          <a:prstGeom prst="leftArrow">
            <a:avLst>
              <a:gd name="adj1" fmla="val 50000"/>
              <a:gd name="adj2" fmla="val 50000"/>
            </a:avLst>
          </a:prstGeom>
          <a:solidFill>
            <a:srgbClr val="3F3F3F"/>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 name="Google Shape;186;p10"/>
          <p:cNvSpPr/>
          <p:nvPr/>
        </p:nvSpPr>
        <p:spPr>
          <a:xfrm>
            <a:off x="6774297" y="4481123"/>
            <a:ext cx="563622" cy="215174"/>
          </a:xfrm>
          <a:prstGeom prst="leftArrow">
            <a:avLst>
              <a:gd name="adj1" fmla="val 50000"/>
              <a:gd name="adj2" fmla="val 50000"/>
            </a:avLst>
          </a:prstGeom>
          <a:solidFill>
            <a:srgbClr val="3F3F3F"/>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8" name="Google Shape;188;p10"/>
          <p:cNvSpPr/>
          <p:nvPr/>
        </p:nvSpPr>
        <p:spPr>
          <a:xfrm>
            <a:off x="9388996" y="4470472"/>
            <a:ext cx="2151063" cy="891845"/>
          </a:xfrm>
          <a:prstGeom prst="rect">
            <a:avLst/>
          </a:prstGeom>
          <a:solidFill>
            <a:srgbClr val="385623"/>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Times New Roman"/>
                <a:ea typeface="Times New Roman"/>
                <a:cs typeface="Times New Roman"/>
                <a:sym typeface="Times New Roman"/>
              </a:rPr>
              <a:t>DL</a:t>
            </a:r>
            <a:endParaRPr/>
          </a:p>
          <a:p>
            <a:pPr marL="0" marR="0" lvl="0" indent="0" algn="ctr" rtl="0">
              <a:spcBef>
                <a:spcPts val="0"/>
              </a:spcBef>
              <a:spcAft>
                <a:spcPts val="0"/>
              </a:spcAft>
              <a:buNone/>
            </a:pPr>
            <a:r>
              <a:rPr lang="en-US" sz="1400">
                <a:solidFill>
                  <a:schemeClr val="lt1"/>
                </a:solidFill>
                <a:latin typeface="Times New Roman"/>
                <a:ea typeface="Times New Roman"/>
                <a:cs typeface="Times New Roman"/>
                <a:sym typeface="Times New Roman"/>
              </a:rPr>
              <a:t>ANN, CNN, BiLSTM</a:t>
            </a:r>
            <a:endParaRPr/>
          </a:p>
        </p:txBody>
      </p:sp>
      <p:sp>
        <p:nvSpPr>
          <p:cNvPr id="189" name="Google Shape;189;p10"/>
          <p:cNvSpPr/>
          <p:nvPr/>
        </p:nvSpPr>
        <p:spPr>
          <a:xfrm>
            <a:off x="9388996" y="5387171"/>
            <a:ext cx="2151063" cy="891845"/>
          </a:xfrm>
          <a:prstGeom prst="rect">
            <a:avLst/>
          </a:prstGeom>
          <a:solidFill>
            <a:srgbClr val="385623"/>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a:solidFill>
                  <a:schemeClr val="lt1"/>
                </a:solidFill>
                <a:latin typeface="Times New Roman"/>
                <a:ea typeface="Times New Roman"/>
                <a:cs typeface="Times New Roman"/>
                <a:sym typeface="Times New Roman"/>
              </a:rPr>
              <a:t>Transformer</a:t>
            </a:r>
            <a:endParaRPr dirty="0"/>
          </a:p>
          <a:p>
            <a:pPr marL="0" marR="0" lvl="0" indent="0" algn="ctr" rtl="0">
              <a:spcBef>
                <a:spcPts val="0"/>
              </a:spcBef>
              <a:spcAft>
                <a:spcPts val="0"/>
              </a:spcAft>
              <a:buNone/>
            </a:pPr>
            <a:r>
              <a:rPr lang="en-US" sz="1400" dirty="0">
                <a:solidFill>
                  <a:schemeClr val="lt1"/>
                </a:solidFill>
                <a:latin typeface="Times New Roman"/>
                <a:ea typeface="Times New Roman"/>
                <a:cs typeface="Times New Roman"/>
                <a:sym typeface="Times New Roman"/>
              </a:rPr>
              <a:t>Roberta, B-BERT,</a:t>
            </a:r>
            <a:endParaRPr dirty="0"/>
          </a:p>
          <a:p>
            <a:pPr marL="0" marR="0" lvl="0" indent="0" algn="ctr" rtl="0">
              <a:spcBef>
                <a:spcPts val="0"/>
              </a:spcBef>
              <a:spcAft>
                <a:spcPts val="0"/>
              </a:spcAft>
              <a:buNone/>
            </a:pPr>
            <a:r>
              <a:rPr lang="en-US" sz="1400" dirty="0">
                <a:solidFill>
                  <a:schemeClr val="lt1"/>
                </a:solidFill>
                <a:latin typeface="Times New Roman"/>
                <a:ea typeface="Times New Roman"/>
                <a:cs typeface="Times New Roman"/>
                <a:sym typeface="Times New Roman"/>
              </a:rPr>
              <a:t>XLM-</a:t>
            </a:r>
            <a:r>
              <a:rPr lang="en-US" sz="1400" dirty="0" err="1">
                <a:solidFill>
                  <a:schemeClr val="lt1"/>
                </a:solidFill>
                <a:latin typeface="Times New Roman"/>
                <a:ea typeface="Times New Roman"/>
                <a:cs typeface="Times New Roman"/>
                <a:sym typeface="Times New Roman"/>
              </a:rPr>
              <a:t>RoBERTa</a:t>
            </a:r>
            <a:endParaRPr dirty="0"/>
          </a:p>
        </p:txBody>
      </p:sp>
      <p:sp>
        <p:nvSpPr>
          <p:cNvPr id="191" name="Google Shape;191;p10"/>
          <p:cNvSpPr/>
          <p:nvPr/>
        </p:nvSpPr>
        <p:spPr>
          <a:xfrm>
            <a:off x="4804584" y="4474999"/>
            <a:ext cx="347381" cy="225824"/>
          </a:xfrm>
          <a:prstGeom prst="leftArrow">
            <a:avLst>
              <a:gd name="adj1" fmla="val 50000"/>
              <a:gd name="adj2" fmla="val 50000"/>
            </a:avLst>
          </a:prstGeom>
          <a:solidFill>
            <a:srgbClr val="3F3F3F"/>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 name="Google Shape;193;p10"/>
          <p:cNvSpPr txBox="1"/>
          <p:nvPr/>
        </p:nvSpPr>
        <p:spPr>
          <a:xfrm>
            <a:off x="3697283" y="5750911"/>
            <a:ext cx="393673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Times New Roman"/>
                <a:ea typeface="Times New Roman"/>
                <a:cs typeface="Times New Roman"/>
                <a:sym typeface="Times New Roman"/>
              </a:rPr>
              <a:t>Figure 1: Methodology</a:t>
            </a:r>
            <a:endParaRPr sz="1600">
              <a:solidFill>
                <a:schemeClr val="dk1"/>
              </a:solidFill>
              <a:latin typeface="Times New Roman"/>
              <a:ea typeface="Times New Roman"/>
              <a:cs typeface="Times New Roman"/>
              <a:sym typeface="Times New Roman"/>
            </a:endParaRPr>
          </a:p>
        </p:txBody>
      </p:sp>
      <p:sp>
        <p:nvSpPr>
          <p:cNvPr id="30" name="Google Shape;180;p10">
            <a:extLst>
              <a:ext uri="{FF2B5EF4-FFF2-40B4-BE49-F238E27FC236}">
                <a16:creationId xmlns:a16="http://schemas.microsoft.com/office/drawing/2014/main" id="{E541496E-A90F-44E5-A9A1-0D4FE6377A01}"/>
              </a:ext>
            </a:extLst>
          </p:cNvPr>
          <p:cNvSpPr/>
          <p:nvPr/>
        </p:nvSpPr>
        <p:spPr>
          <a:xfrm>
            <a:off x="8161334" y="3858645"/>
            <a:ext cx="215646" cy="418677"/>
          </a:xfrm>
          <a:prstGeom prst="downArrow">
            <a:avLst>
              <a:gd name="adj1" fmla="val 50000"/>
              <a:gd name="adj2" fmla="val 50000"/>
            </a:avLst>
          </a:prstGeom>
          <a:solidFill>
            <a:srgbClr val="595959"/>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sz="1800" b="1" dirty="0">
                <a:solidFill>
                  <a:srgbClr val="171616"/>
                </a:solidFill>
                <a:latin typeface="Times New Roman"/>
                <a:ea typeface="Times New Roman"/>
                <a:cs typeface="Times New Roman"/>
                <a:sym typeface="Times New Roman"/>
              </a:rPr>
              <a:t>11</a:t>
            </a:r>
          </a:p>
        </p:txBody>
      </p:sp>
      <p:sp>
        <p:nvSpPr>
          <p:cNvPr id="199" name="Google Shape;199;p11"/>
          <p:cNvSpPr txBox="1">
            <a:spLocks noGrp="1"/>
          </p:cNvSpPr>
          <p:nvPr>
            <p:ph type="title"/>
          </p:nvPr>
        </p:nvSpPr>
        <p:spPr>
          <a:xfrm>
            <a:off x="1018743" y="533706"/>
            <a:ext cx="14986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Dataset</a:t>
            </a:r>
            <a:endParaRPr lang="en-US"/>
          </a:p>
        </p:txBody>
      </p:sp>
      <p:graphicFrame>
        <p:nvGraphicFramePr>
          <p:cNvPr id="200" name="Google Shape;200;p11"/>
          <p:cNvGraphicFramePr/>
          <p:nvPr>
            <p:extLst>
              <p:ext uri="{D42A27DB-BD31-4B8C-83A1-F6EECF244321}">
                <p14:modId xmlns:p14="http://schemas.microsoft.com/office/powerpoint/2010/main" val="325795154"/>
              </p:ext>
            </p:extLst>
          </p:nvPr>
        </p:nvGraphicFramePr>
        <p:xfrm>
          <a:off x="934948" y="1464183"/>
          <a:ext cx="7158412" cy="3255500"/>
        </p:xfrm>
        <a:graphic>
          <a:graphicData uri="http://schemas.openxmlformats.org/drawingml/2006/table">
            <a:tbl>
              <a:tblPr firstRow="1" lastRow="1" lastCol="1" bandRow="1">
                <a:noFill/>
                <a:tableStyleId>{A12B2C4A-2641-410F-86F1-3BD795578828}</a:tableStyleId>
              </a:tblPr>
              <a:tblGrid>
                <a:gridCol w="1988175">
                  <a:extLst>
                    <a:ext uri="{9D8B030D-6E8A-4147-A177-3AD203B41FA5}">
                      <a16:colId xmlns:a16="http://schemas.microsoft.com/office/drawing/2014/main" val="20000"/>
                    </a:ext>
                  </a:extLst>
                </a:gridCol>
                <a:gridCol w="1336737">
                  <a:extLst>
                    <a:ext uri="{9D8B030D-6E8A-4147-A177-3AD203B41FA5}">
                      <a16:colId xmlns:a16="http://schemas.microsoft.com/office/drawing/2014/main" val="20002"/>
                    </a:ext>
                  </a:extLst>
                </a:gridCol>
                <a:gridCol w="3833500">
                  <a:extLst>
                    <a:ext uri="{9D8B030D-6E8A-4147-A177-3AD203B41FA5}">
                      <a16:colId xmlns:a16="http://schemas.microsoft.com/office/drawing/2014/main" val="20003"/>
                    </a:ext>
                  </a:extLst>
                </a:gridCol>
              </a:tblGrid>
              <a:tr h="319233">
                <a:tc>
                  <a:txBody>
                    <a:bodyPr/>
                    <a:lstStyle/>
                    <a:p>
                      <a:pPr marL="635" marR="0" lvl="0" indent="0" algn="ctr" rtl="0">
                        <a:lnSpc>
                          <a:spcPct val="100000"/>
                        </a:lnSpc>
                        <a:spcBef>
                          <a:spcPts val="0"/>
                        </a:spcBef>
                        <a:spcAft>
                          <a:spcPts val="0"/>
                        </a:spcAft>
                        <a:buNone/>
                      </a:pPr>
                      <a:r>
                        <a:rPr lang="en-US" sz="1800" b="1" u="none" strike="noStrike" cap="none" dirty="0">
                          <a:solidFill>
                            <a:srgbClr val="FFFFFF"/>
                          </a:solidFill>
                          <a:latin typeface="Times New Roman"/>
                          <a:ea typeface="Times New Roman"/>
                          <a:cs typeface="Times New Roman"/>
                          <a:sym typeface="Times New Roman"/>
                        </a:rPr>
                        <a:t>Name</a:t>
                      </a:r>
                      <a:endParaRPr sz="1800" u="none" strike="noStrike" cap="none" dirty="0">
                        <a:latin typeface="Times New Roman"/>
                        <a:ea typeface="Times New Roman"/>
                        <a:cs typeface="Times New Roman"/>
                        <a:sym typeface="Times New Roman"/>
                      </a:endParaRPr>
                    </a:p>
                  </a:txBody>
                  <a:tcPr marL="0" marR="0" marT="914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30521B"/>
                    </a:solidFill>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u="none" strike="noStrike" cap="none" dirty="0">
                          <a:solidFill>
                            <a:schemeClr val="bg1"/>
                          </a:solidFill>
                          <a:latin typeface="Times New Roman"/>
                          <a:ea typeface="Times New Roman"/>
                          <a:cs typeface="Times New Roman"/>
                          <a:sym typeface="Times New Roman"/>
                        </a:rPr>
                        <a:t>Bangla Sports Sentiment Analysis Dataset</a:t>
                      </a:r>
                    </a:p>
                    <a:p>
                      <a:pPr marL="0" marR="0" lvl="0" indent="0" algn="ctr" rtl="0">
                        <a:lnSpc>
                          <a:spcPct val="100000"/>
                        </a:lnSpc>
                        <a:spcBef>
                          <a:spcPts val="0"/>
                        </a:spcBef>
                        <a:spcAft>
                          <a:spcPts val="0"/>
                        </a:spcAft>
                        <a:buNone/>
                      </a:pPr>
                      <a:endParaRPr sz="2000" b="1" u="none" strike="noStrike" cap="none" dirty="0">
                        <a:solidFill>
                          <a:schemeClr val="bg1"/>
                        </a:solidFill>
                        <a:latin typeface="Times New Roman"/>
                        <a:ea typeface="Times New Roman"/>
                        <a:cs typeface="Times New Roman"/>
                        <a:sym typeface="Times New Roman"/>
                      </a:endParaRPr>
                    </a:p>
                  </a:txBody>
                  <a:tcPr marL="0" marR="0" marT="85725"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62A437"/>
                    </a:solidFill>
                  </a:tcPr>
                </a:tc>
                <a:tc hMerge="1">
                  <a:txBody>
                    <a:bodyPr/>
                    <a:lstStyle/>
                    <a:p>
                      <a:endParaRPr lang="en-US"/>
                    </a:p>
                  </a:txBody>
                  <a:tcPr/>
                </a:tc>
                <a:extLst>
                  <a:ext uri="{0D108BD9-81ED-4DB2-BD59-A6C34878D82A}">
                    <a16:rowId xmlns:a16="http://schemas.microsoft.com/office/drawing/2014/main" val="10000"/>
                  </a:ext>
                </a:extLst>
              </a:tr>
              <a:tr h="492625">
                <a:tc>
                  <a:txBody>
                    <a:bodyPr/>
                    <a:lstStyle/>
                    <a:p>
                      <a:pPr marL="0" marR="624840" lvl="0" indent="0" algn="r" rtl="0">
                        <a:lnSpc>
                          <a:spcPct val="100000"/>
                        </a:lnSpc>
                        <a:spcBef>
                          <a:spcPts val="0"/>
                        </a:spcBef>
                        <a:spcAft>
                          <a:spcPts val="0"/>
                        </a:spcAft>
                        <a:buNone/>
                      </a:pPr>
                      <a:r>
                        <a:rPr lang="en-US" sz="1800" b="1" u="none" strike="noStrike" cap="none">
                          <a:solidFill>
                            <a:srgbClr val="FFFFFF"/>
                          </a:solidFill>
                          <a:latin typeface="Times New Roman"/>
                          <a:ea typeface="Times New Roman"/>
                          <a:cs typeface="Times New Roman"/>
                          <a:sym typeface="Times New Roman"/>
                        </a:rPr>
                        <a:t>Sample</a:t>
                      </a:r>
                      <a:endParaRPr sz="1800" u="none" strike="noStrike" cap="none">
                        <a:latin typeface="Times New Roman"/>
                        <a:ea typeface="Times New Roman"/>
                        <a:cs typeface="Times New Roman"/>
                        <a:sym typeface="Times New Roman"/>
                      </a:endParaRPr>
                    </a:p>
                  </a:txBody>
                  <a:tcPr marL="0" marR="0" marT="7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30521B"/>
                    </a:solidFill>
                  </a:tcPr>
                </a:tc>
                <a:tc gridSpan="2">
                  <a:txBody>
                    <a:bodyPr/>
                    <a:lstStyle/>
                    <a:p>
                      <a:pPr marL="0" marR="0" lvl="0" indent="0" algn="ctr" rtl="0">
                        <a:lnSpc>
                          <a:spcPct val="100000"/>
                        </a:lnSpc>
                        <a:spcBef>
                          <a:spcPts val="0"/>
                        </a:spcBef>
                        <a:spcAft>
                          <a:spcPts val="0"/>
                        </a:spcAft>
                        <a:buNone/>
                      </a:pPr>
                      <a:r>
                        <a:rPr lang="en-US" sz="2000" b="1" u="none" strike="noStrike" cap="none" dirty="0">
                          <a:solidFill>
                            <a:srgbClr val="FFFFFF"/>
                          </a:solidFill>
                          <a:latin typeface="Times New Roman"/>
                          <a:ea typeface="Times New Roman"/>
                          <a:cs typeface="Times New Roman"/>
                          <a:sym typeface="Times New Roman"/>
                        </a:rPr>
                        <a:t>82,612</a:t>
                      </a:r>
                      <a:endParaRPr sz="2000" u="none" strike="noStrike" cap="none" dirty="0">
                        <a:latin typeface="Times New Roman"/>
                        <a:ea typeface="Times New Roman"/>
                        <a:cs typeface="Times New Roman"/>
                        <a:sym typeface="Times New Roman"/>
                      </a:endParaRPr>
                    </a:p>
                  </a:txBody>
                  <a:tcPr marL="0" marR="0" marT="85725"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62A437"/>
                    </a:solidFill>
                  </a:tcPr>
                </a:tc>
                <a:tc hMerge="1">
                  <a:txBody>
                    <a:bodyPr/>
                    <a:lstStyle/>
                    <a:p>
                      <a:endParaRPr lang="en-US"/>
                    </a:p>
                  </a:txBody>
                  <a:tcPr/>
                </a:tc>
                <a:extLst>
                  <a:ext uri="{0D108BD9-81ED-4DB2-BD59-A6C34878D82A}">
                    <a16:rowId xmlns:a16="http://schemas.microsoft.com/office/drawing/2014/main" val="10001"/>
                  </a:ext>
                </a:extLst>
              </a:tr>
              <a:tr h="549406">
                <a:tc rowSpan="2">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p>
                      <a:pPr marL="1905" marR="0" lvl="0" indent="0" algn="ctr" rtl="0">
                        <a:lnSpc>
                          <a:spcPct val="100000"/>
                        </a:lnSpc>
                        <a:spcBef>
                          <a:spcPts val="1510"/>
                        </a:spcBef>
                        <a:spcAft>
                          <a:spcPts val="0"/>
                        </a:spcAft>
                        <a:buNone/>
                      </a:pPr>
                      <a:r>
                        <a:rPr lang="en-US" sz="1800" b="1" u="none" strike="noStrike" cap="none">
                          <a:solidFill>
                            <a:srgbClr val="FFFFFF"/>
                          </a:solidFill>
                          <a:latin typeface="Times New Roman"/>
                          <a:ea typeface="Times New Roman"/>
                          <a:cs typeface="Times New Roman"/>
                          <a:sym typeface="Times New Roman"/>
                        </a:rPr>
                        <a:t>Class</a:t>
                      </a:r>
                      <a:endParaRPr sz="1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30521B"/>
                    </a:solidFill>
                  </a:tcPr>
                </a:tc>
                <a:tc rowSpan="2">
                  <a:txBody>
                    <a:bodyPr/>
                    <a:lstStyle/>
                    <a:p>
                      <a:pPr marL="0" marR="0" lvl="0" indent="0" algn="l" rtl="0">
                        <a:lnSpc>
                          <a:spcPct val="100000"/>
                        </a:lnSpc>
                        <a:spcBef>
                          <a:spcPts val="0"/>
                        </a:spcBef>
                        <a:spcAft>
                          <a:spcPts val="0"/>
                        </a:spcAft>
                        <a:buNone/>
                      </a:pPr>
                      <a:endParaRPr sz="3200" u="none" strike="noStrike" cap="none" dirty="0">
                        <a:latin typeface="Times New Roman"/>
                        <a:ea typeface="Times New Roman"/>
                        <a:cs typeface="Times New Roman"/>
                        <a:sym typeface="Times New Roman"/>
                      </a:endParaRPr>
                    </a:p>
                    <a:p>
                      <a:pPr marL="464819" marR="0" lvl="0" indent="0" algn="l" rtl="0">
                        <a:lnSpc>
                          <a:spcPct val="100000"/>
                        </a:lnSpc>
                        <a:spcBef>
                          <a:spcPts val="5"/>
                        </a:spcBef>
                        <a:spcAft>
                          <a:spcPts val="0"/>
                        </a:spcAft>
                        <a:buNone/>
                      </a:pPr>
                      <a:r>
                        <a:rPr lang="en-US" sz="2000" b="1" u="none" strike="noStrike" cap="none" dirty="0">
                          <a:solidFill>
                            <a:srgbClr val="FFFFFF"/>
                          </a:solidFill>
                          <a:latin typeface="Times New Roman"/>
                          <a:ea typeface="Times New Roman"/>
                          <a:cs typeface="Times New Roman"/>
                          <a:sym typeface="Times New Roman"/>
                        </a:rPr>
                        <a:t>2 Class</a:t>
                      </a:r>
                      <a:endParaRPr sz="2000" u="none" strike="noStrike" cap="none" dirty="0">
                        <a:latin typeface="Times New Roman"/>
                        <a:ea typeface="Times New Roman"/>
                        <a:cs typeface="Times New Roman"/>
                        <a:sym typeface="Times New Roman"/>
                      </a:endParaRPr>
                    </a:p>
                  </a:txBody>
                  <a:tcPr marL="0" marR="0" marT="5725"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62A437"/>
                    </a:solidFill>
                  </a:tcPr>
                </a:tc>
                <a:tc>
                  <a:txBody>
                    <a:bodyPr/>
                    <a:lstStyle/>
                    <a:p>
                      <a:pPr marL="127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u="none" strike="noStrike" cap="none" dirty="0">
                          <a:solidFill>
                            <a:srgbClr val="FFFFFF"/>
                          </a:solidFill>
                          <a:latin typeface="Times New Roman"/>
                          <a:ea typeface="Times New Roman"/>
                          <a:cs typeface="Times New Roman"/>
                          <a:sym typeface="Times New Roman"/>
                        </a:rPr>
                        <a:t>Positive</a:t>
                      </a:r>
                      <a:endParaRPr lang="en-US" sz="2000" u="none" strike="noStrike" cap="none" dirty="0">
                        <a:latin typeface="Times New Roman"/>
                        <a:ea typeface="Times New Roman"/>
                        <a:cs typeface="Times New Roman"/>
                        <a:sym typeface="Times New Roman"/>
                      </a:endParaRPr>
                    </a:p>
                    <a:p>
                      <a:pPr marL="1270" marR="0" lvl="0" indent="0" algn="ctr" rtl="0">
                        <a:lnSpc>
                          <a:spcPct val="100000"/>
                        </a:lnSpc>
                        <a:spcBef>
                          <a:spcPts val="0"/>
                        </a:spcBef>
                        <a:spcAft>
                          <a:spcPts val="0"/>
                        </a:spcAft>
                        <a:buNone/>
                      </a:pPr>
                      <a:endParaRPr sz="2000" u="none" strike="noStrike" cap="none" dirty="0">
                        <a:latin typeface="Times New Roman"/>
                        <a:ea typeface="Times New Roman"/>
                        <a:cs typeface="Times New Roman"/>
                        <a:sym typeface="Times New Roman"/>
                      </a:endParaRPr>
                    </a:p>
                  </a:txBody>
                  <a:tcPr marL="0" marR="0" marT="38725"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chemeClr val="bg1"/>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521109">
                <a:tc vMerge="1">
                  <a:txBody>
                    <a:bodyPr/>
                    <a:lstStyle/>
                    <a:p>
                      <a:endParaRPr lang="en-US"/>
                    </a:p>
                  </a:txBody>
                  <a:tcPr/>
                </a:tc>
                <a:tc vMerge="1">
                  <a:txBody>
                    <a:bodyPr/>
                    <a:lstStyle/>
                    <a:p>
                      <a:endParaRPr lang="en-US"/>
                    </a:p>
                  </a:txBody>
                  <a:tcPr/>
                </a:tc>
                <a:tc>
                  <a:txBody>
                    <a:bodyPr/>
                    <a:lstStyle/>
                    <a:p>
                      <a:pPr marL="127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u="none" strike="noStrike" cap="none" dirty="0">
                          <a:solidFill>
                            <a:srgbClr val="FFFFFF"/>
                          </a:solidFill>
                          <a:latin typeface="Times New Roman"/>
                          <a:ea typeface="Times New Roman"/>
                          <a:cs typeface="Times New Roman"/>
                          <a:sym typeface="Times New Roman"/>
                        </a:rPr>
                        <a:t>Negative</a:t>
                      </a:r>
                      <a:endParaRPr lang="en-US" sz="2000" u="none" strike="noStrike" cap="none" dirty="0">
                        <a:latin typeface="Times New Roman"/>
                        <a:ea typeface="Times New Roman"/>
                        <a:cs typeface="Times New Roman"/>
                        <a:sym typeface="Times New Roman"/>
                      </a:endParaRPr>
                    </a:p>
                    <a:p>
                      <a:pPr marL="1270" marR="0" lvl="0" indent="0" algn="ctr" rtl="0">
                        <a:lnSpc>
                          <a:spcPct val="100000"/>
                        </a:lnSpc>
                        <a:spcBef>
                          <a:spcPts val="0"/>
                        </a:spcBef>
                        <a:spcAft>
                          <a:spcPts val="0"/>
                        </a:spcAft>
                        <a:buNone/>
                      </a:pPr>
                      <a:endParaRPr sz="2000" u="none" strike="noStrike" cap="none" dirty="0">
                        <a:latin typeface="Times New Roman"/>
                        <a:ea typeface="Times New Roman"/>
                        <a:cs typeface="Times New Roman"/>
                        <a:sym typeface="Times New Roman"/>
                      </a:endParaRPr>
                    </a:p>
                  </a:txBody>
                  <a:tcPr marL="0" marR="0" marT="38725"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sm" len="sm"/>
                      <a:tailEnd type="none" w="sm" len="sm"/>
                    </a:lnB>
                    <a:solidFill>
                      <a:schemeClr val="accent6"/>
                    </a:solidFill>
                  </a:tcPr>
                </a:tc>
                <a:extLst>
                  <a:ext uri="{0D108BD9-81ED-4DB2-BD59-A6C34878D82A}">
                    <a16:rowId xmlns:a16="http://schemas.microsoft.com/office/drawing/2014/main" val="1041865536"/>
                  </a:ext>
                </a:extLst>
              </a:tr>
              <a:tr h="643625">
                <a:tc>
                  <a:txBody>
                    <a:bodyPr/>
                    <a:lstStyle/>
                    <a:p>
                      <a:pPr marL="0" marR="652145" lvl="0" indent="0" algn="r" rtl="0">
                        <a:lnSpc>
                          <a:spcPct val="100000"/>
                        </a:lnSpc>
                        <a:spcBef>
                          <a:spcPts val="0"/>
                        </a:spcBef>
                        <a:spcAft>
                          <a:spcPts val="0"/>
                        </a:spcAft>
                        <a:buNone/>
                      </a:pPr>
                      <a:r>
                        <a:rPr lang="en-US" sz="1800" b="1" u="none" strike="noStrike" cap="none">
                          <a:solidFill>
                            <a:srgbClr val="FFFFFF"/>
                          </a:solidFill>
                          <a:latin typeface="Times New Roman"/>
                          <a:ea typeface="Times New Roman"/>
                          <a:cs typeface="Times New Roman"/>
                          <a:sym typeface="Times New Roman"/>
                        </a:rPr>
                        <a:t>Source</a:t>
                      </a:r>
                      <a:endParaRPr sz="1800" u="none" strike="noStrike" cap="none">
                        <a:latin typeface="Times New Roman"/>
                        <a:ea typeface="Times New Roman"/>
                        <a:cs typeface="Times New Roman"/>
                        <a:sym typeface="Times New Roman"/>
                      </a:endParaRPr>
                    </a:p>
                  </a:txBody>
                  <a:tcPr marL="0" marR="0" marT="185425"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30521B"/>
                    </a:solidFill>
                  </a:tcPr>
                </a:tc>
                <a:tc gridSpan="2">
                  <a:txBody>
                    <a:bodyPr/>
                    <a:lstStyle/>
                    <a:p>
                      <a:pPr marL="0" marR="0" lvl="0" indent="0" algn="ctr" rtl="0">
                        <a:lnSpc>
                          <a:spcPct val="100000"/>
                        </a:lnSpc>
                        <a:spcBef>
                          <a:spcPts val="0"/>
                        </a:spcBef>
                        <a:spcAft>
                          <a:spcPts val="0"/>
                        </a:spcAft>
                        <a:buNone/>
                      </a:pPr>
                      <a:r>
                        <a:rPr lang="en-US" sz="2000" b="1" u="none" strike="noStrike" cap="none" dirty="0">
                          <a:solidFill>
                            <a:srgbClr val="FFFFFF"/>
                          </a:solidFill>
                          <a:latin typeface="Times New Roman"/>
                          <a:ea typeface="Times New Roman"/>
                          <a:cs typeface="Times New Roman"/>
                          <a:sym typeface="Times New Roman"/>
                        </a:rPr>
                        <a:t> Git-Hub(</a:t>
                      </a:r>
                      <a:r>
                        <a:rPr lang="en-US" sz="1600" b="1" u="none" strike="noStrike" cap="none" dirty="0">
                          <a:solidFill>
                            <a:srgbClr val="FFFFFF"/>
                          </a:solidFill>
                          <a:latin typeface="Times New Roman"/>
                          <a:ea typeface="Times New Roman"/>
                          <a:cs typeface="Times New Roman"/>
                          <a:sym typeface="Times New Roman"/>
                        </a:rPr>
                        <a:t>https://github.com/cseku170202/Bangla-Sports-Sentiment-Analysis</a:t>
                      </a:r>
                      <a:r>
                        <a:rPr lang="en-US" sz="2000" b="1" u="none" strike="noStrike" cap="none" dirty="0">
                          <a:solidFill>
                            <a:srgbClr val="FFFFFF"/>
                          </a:solidFill>
                          <a:latin typeface="Times New Roman"/>
                          <a:ea typeface="Times New Roman"/>
                          <a:cs typeface="Times New Roman"/>
                          <a:sym typeface="Times New Roman"/>
                        </a:rPr>
                        <a:t>)</a:t>
                      </a:r>
                      <a:endParaRPr sz="2000" u="none" strike="noStrike" cap="none" dirty="0">
                        <a:latin typeface="Times New Roman"/>
                        <a:ea typeface="Times New Roman"/>
                        <a:cs typeface="Times New Roman"/>
                        <a:sym typeface="Times New Roman"/>
                      </a:endParaRPr>
                    </a:p>
                  </a:txBody>
                  <a:tcPr marL="0" marR="0" marT="16130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accent6"/>
                    </a:solidFill>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201" name="Google Shape;201;p11"/>
          <p:cNvSpPr txBox="1"/>
          <p:nvPr/>
        </p:nvSpPr>
        <p:spPr>
          <a:xfrm>
            <a:off x="3581400" y="5528927"/>
            <a:ext cx="393673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Times New Roman"/>
                <a:ea typeface="Times New Roman"/>
                <a:cs typeface="Times New Roman"/>
                <a:sym typeface="Times New Roman"/>
              </a:rPr>
              <a:t>Figure 2: Dataset Description</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dirty="0">
                <a:latin typeface="Times New Roman"/>
                <a:ea typeface="Times New Roman"/>
                <a:cs typeface="Times New Roman"/>
                <a:sym typeface="Times New Roman"/>
              </a:rPr>
              <a:t>Conclusion</a:t>
            </a:r>
            <a:endParaRPr sz="3600" b="1" dirty="0">
              <a:latin typeface="Times New Roman"/>
              <a:ea typeface="Times New Roman"/>
              <a:cs typeface="Times New Roman"/>
              <a:sym typeface="Times New Roman"/>
            </a:endParaRPr>
          </a:p>
        </p:txBody>
      </p:sp>
      <p:sp>
        <p:nvSpPr>
          <p:cNvPr id="326" name="Google Shape;326;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600"/>
              <a:buFont typeface="Noto Sans Symbols"/>
              <a:buChar char="❑"/>
            </a:pPr>
            <a:r>
              <a:rPr lang="en-US" sz="2000" dirty="0">
                <a:latin typeface="Times New Roman"/>
                <a:ea typeface="Times New Roman"/>
                <a:cs typeface="Times New Roman"/>
                <a:sym typeface="Times New Roman"/>
              </a:rPr>
              <a:t>This study proposes an approach for Bangla sports sentiment analysis.</a:t>
            </a:r>
            <a:endParaRPr sz="2000" dirty="0"/>
          </a:p>
          <a:p>
            <a:pPr marL="228600" lvl="0" indent="-228600" algn="l" rtl="0">
              <a:lnSpc>
                <a:spcPct val="90000"/>
              </a:lnSpc>
              <a:spcBef>
                <a:spcPts val="1000"/>
              </a:spcBef>
              <a:spcAft>
                <a:spcPts val="0"/>
              </a:spcAft>
              <a:buClr>
                <a:schemeClr val="dk1"/>
              </a:buClr>
              <a:buSzPts val="1600"/>
              <a:buFont typeface="Noto Sans Symbols"/>
              <a:buChar char="❑"/>
            </a:pPr>
            <a:r>
              <a:rPr lang="en-US" sz="2000" dirty="0">
                <a:latin typeface="Times New Roman"/>
                <a:ea typeface="Times New Roman"/>
                <a:cs typeface="Times New Roman"/>
                <a:sym typeface="Times New Roman"/>
              </a:rPr>
              <a:t>The performance of different techniques will be compared. </a:t>
            </a:r>
          </a:p>
          <a:p>
            <a:pPr marL="228600" indent="-228600">
              <a:buSzPts val="1600"/>
              <a:buFont typeface="Noto Sans Symbols"/>
              <a:buChar char="❑"/>
            </a:pPr>
            <a:r>
              <a:rPr lang="en-US" sz="2000" dirty="0">
                <a:latin typeface="Times New Roman"/>
                <a:ea typeface="Times New Roman"/>
                <a:cs typeface="Times New Roman"/>
                <a:sym typeface="Times New Roman"/>
              </a:rPr>
              <a:t>We hope that this research will contributes to the growing field of sports analytics, demonstrating the potential of advanced technologies in extracting meaningful insights from unstructured fan-generated content.</a:t>
            </a:r>
            <a:endParaRPr lang="en-US" sz="2000" dirty="0"/>
          </a:p>
          <a:p>
            <a:pPr marL="0" lvl="0" indent="0" algn="l" rtl="0">
              <a:lnSpc>
                <a:spcPct val="90000"/>
              </a:lnSpc>
              <a:spcBef>
                <a:spcPts val="1000"/>
              </a:spcBef>
              <a:spcAft>
                <a:spcPts val="0"/>
              </a:spcAft>
              <a:buClr>
                <a:schemeClr val="dk1"/>
              </a:buClr>
              <a:buSzPts val="1600"/>
              <a:buNone/>
            </a:pPr>
            <a:endParaRPr sz="2000" dirty="0"/>
          </a:p>
        </p:txBody>
      </p:sp>
      <p:sp>
        <p:nvSpPr>
          <p:cNvPr id="327" name="Google Shape;32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sz="1800" b="1" dirty="0">
                <a:solidFill>
                  <a:srgbClr val="171616"/>
                </a:solidFill>
                <a:latin typeface="Times New Roman"/>
                <a:ea typeface="Times New Roman"/>
                <a:cs typeface="Times New Roman"/>
                <a:sym typeface="Times New Roman"/>
              </a:rPr>
              <a:t>12</a:t>
            </a:r>
            <a:endParaRPr sz="1800" b="1" dirty="0">
              <a:solidFill>
                <a:srgbClr val="171616"/>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4"/>
          <p:cNvSpPr txBox="1">
            <a:spLocks noGrp="1"/>
          </p:cNvSpPr>
          <p:nvPr>
            <p:ph type="title"/>
          </p:nvPr>
        </p:nvSpPr>
        <p:spPr>
          <a:xfrm>
            <a:off x="734683" y="183971"/>
            <a:ext cx="10515600" cy="98059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References</a:t>
            </a:r>
            <a:endParaRPr sz="3600" b="1">
              <a:latin typeface="Times New Roman"/>
              <a:ea typeface="Times New Roman"/>
              <a:cs typeface="Times New Roman"/>
              <a:sym typeface="Times New Roman"/>
            </a:endParaRPr>
          </a:p>
        </p:txBody>
      </p:sp>
      <p:sp>
        <p:nvSpPr>
          <p:cNvPr id="333" name="Google Shape;333;p24"/>
          <p:cNvSpPr txBox="1">
            <a:spLocks noGrp="1"/>
          </p:cNvSpPr>
          <p:nvPr>
            <p:ph type="body" idx="1"/>
          </p:nvPr>
        </p:nvSpPr>
        <p:spPr>
          <a:xfrm>
            <a:off x="838200" y="957532"/>
            <a:ext cx="10515600" cy="521943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600"/>
              <a:buNone/>
            </a:pPr>
            <a:r>
              <a:rPr lang="en-US" sz="1800" dirty="0">
                <a:latin typeface="Times New Roman"/>
                <a:ea typeface="Times New Roman"/>
                <a:cs typeface="Times New Roman"/>
                <a:sym typeface="Times New Roman"/>
              </a:rPr>
              <a:t>[1] Golder, K., Islam, M.S., Tarun, F.F., Biswas, P. and Akter, S., 2024, June. An empirical study on developing stacking ensemble model for </a:t>
            </a:r>
            <a:r>
              <a:rPr lang="en-US" sz="1800" dirty="0" err="1">
                <a:latin typeface="Times New Roman"/>
                <a:ea typeface="Times New Roman"/>
                <a:cs typeface="Times New Roman"/>
                <a:sym typeface="Times New Roman"/>
              </a:rPr>
              <a:t>bangla</a:t>
            </a:r>
            <a:r>
              <a:rPr lang="en-US" sz="1800" dirty="0">
                <a:latin typeface="Times New Roman"/>
                <a:ea typeface="Times New Roman"/>
                <a:cs typeface="Times New Roman"/>
                <a:sym typeface="Times New Roman"/>
              </a:rPr>
              <a:t> sports sentiment analysis. In 2024 15th International Conference on Computing Communication and Networking Technologies (ICCCNT) (pp. 1-7). IEEE.</a:t>
            </a:r>
          </a:p>
          <a:p>
            <a:pPr marL="0" lvl="0" indent="0" algn="l" rtl="0">
              <a:lnSpc>
                <a:spcPct val="90000"/>
              </a:lnSpc>
              <a:spcBef>
                <a:spcPts val="0"/>
              </a:spcBef>
              <a:spcAft>
                <a:spcPts val="0"/>
              </a:spcAft>
              <a:buClr>
                <a:schemeClr val="dk1"/>
              </a:buClr>
              <a:buSzPts val="1600"/>
              <a:buNone/>
            </a:pPr>
            <a:endParaRPr lang="en-US" sz="1800" dirty="0">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1600"/>
              <a:buNone/>
            </a:pPr>
            <a:r>
              <a:rPr lang="en-US" sz="1800" dirty="0">
                <a:latin typeface="Times New Roman"/>
                <a:ea typeface="Times New Roman"/>
                <a:cs typeface="Times New Roman"/>
                <a:sym typeface="Times New Roman"/>
              </a:rPr>
              <a:t>[2] Dewi, S., &amp; </a:t>
            </a:r>
            <a:r>
              <a:rPr lang="en-US" sz="1800" dirty="0" err="1">
                <a:latin typeface="Times New Roman"/>
                <a:ea typeface="Times New Roman"/>
                <a:cs typeface="Times New Roman"/>
                <a:sym typeface="Times New Roman"/>
              </a:rPr>
              <a:t>Arianto</a:t>
            </a:r>
            <a:r>
              <a:rPr lang="en-US" sz="1800" dirty="0">
                <a:latin typeface="Times New Roman"/>
                <a:ea typeface="Times New Roman"/>
                <a:cs typeface="Times New Roman"/>
                <a:sym typeface="Times New Roman"/>
              </a:rPr>
              <a:t>, D. B. (2023). Twitter Sentiment Analysis Towards Qatar as Host of the 2022 World Cup Using </a:t>
            </a:r>
            <a:r>
              <a:rPr lang="en-US" sz="1800" dirty="0" err="1">
                <a:latin typeface="Times New Roman"/>
                <a:ea typeface="Times New Roman"/>
                <a:cs typeface="Times New Roman"/>
                <a:sym typeface="Times New Roman"/>
              </a:rPr>
              <a:t>Textblob</a:t>
            </a:r>
            <a:r>
              <a:rPr lang="en-US" sz="1800" dirty="0">
                <a:latin typeface="Times New Roman"/>
                <a:ea typeface="Times New Roman"/>
                <a:cs typeface="Times New Roman"/>
                <a:sym typeface="Times New Roman"/>
              </a:rPr>
              <a:t>. Journal of Social Research, 2(2), 443-455. </a:t>
            </a:r>
            <a:endParaRPr sz="1800" dirty="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600"/>
              <a:buNone/>
            </a:pPr>
            <a:r>
              <a:rPr lang="en-US" sz="1800" dirty="0">
                <a:latin typeface="Times New Roman"/>
                <a:ea typeface="Times New Roman"/>
                <a:cs typeface="Times New Roman"/>
                <a:sym typeface="Times New Roman"/>
              </a:rPr>
              <a:t>[3] Hegde, S. U., </a:t>
            </a:r>
            <a:r>
              <a:rPr lang="en-US" sz="1800" dirty="0" err="1">
                <a:latin typeface="Times New Roman"/>
                <a:ea typeface="Times New Roman"/>
                <a:cs typeface="Times New Roman"/>
                <a:sym typeface="Times New Roman"/>
              </a:rPr>
              <a:t>Zaiba</a:t>
            </a:r>
            <a:r>
              <a:rPr lang="en-US" sz="1800" dirty="0">
                <a:latin typeface="Times New Roman"/>
                <a:ea typeface="Times New Roman"/>
                <a:cs typeface="Times New Roman"/>
                <a:sym typeface="Times New Roman"/>
              </a:rPr>
              <a:t>, A. S., &amp; </a:t>
            </a:r>
            <a:r>
              <a:rPr lang="en-US" sz="1800" dirty="0" err="1">
                <a:latin typeface="Times New Roman"/>
                <a:ea typeface="Times New Roman"/>
                <a:cs typeface="Times New Roman"/>
                <a:sym typeface="Times New Roman"/>
              </a:rPr>
              <a:t>Nagaraju</a:t>
            </a:r>
            <a:r>
              <a:rPr lang="en-US" sz="1800" dirty="0">
                <a:latin typeface="Times New Roman"/>
                <a:ea typeface="Times New Roman"/>
                <a:cs typeface="Times New Roman"/>
                <a:sym typeface="Times New Roman"/>
              </a:rPr>
              <a:t>, Y. (2021, February). Hybrid CNN-LSTM model with glove word vector for sentiment analysis on football specific tweets. In 2021 international conference on advances in electrical, computing,  communication and sustainable technologies (ICAECT) (pp. 1-8). IEEE.</a:t>
            </a:r>
            <a:endParaRPr sz="1800" dirty="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600"/>
              <a:buNone/>
            </a:pPr>
            <a:r>
              <a:rPr lang="en-US" sz="1800" dirty="0">
                <a:latin typeface="Times New Roman"/>
                <a:ea typeface="Times New Roman"/>
                <a:cs typeface="Times New Roman"/>
                <a:sym typeface="Times New Roman"/>
              </a:rPr>
              <a:t>[4] Neelakandan, S., &amp; Paulraj, D. (2020). An automated learning model of conventional neural network based sentiment analysis on Twitter data. Journal of Computational and Theoretical Nanoscience, 17(5), 2230-2236. </a:t>
            </a:r>
            <a:endParaRPr sz="1800" dirty="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600"/>
              <a:buNone/>
            </a:pPr>
            <a:r>
              <a:rPr lang="en-US" sz="1800" dirty="0">
                <a:latin typeface="Times New Roman"/>
                <a:ea typeface="Times New Roman"/>
                <a:cs typeface="Times New Roman"/>
                <a:sym typeface="Times New Roman"/>
              </a:rPr>
              <a:t>[5] </a:t>
            </a:r>
            <a:r>
              <a:rPr lang="en-US" sz="1800" dirty="0" err="1">
                <a:latin typeface="Times New Roman"/>
                <a:ea typeface="Times New Roman"/>
                <a:cs typeface="Times New Roman"/>
                <a:sym typeface="Times New Roman"/>
              </a:rPr>
              <a:t>Aloufi</a:t>
            </a:r>
            <a:r>
              <a:rPr lang="en-US" sz="1800" dirty="0">
                <a:latin typeface="Times New Roman"/>
                <a:ea typeface="Times New Roman"/>
                <a:cs typeface="Times New Roman"/>
                <a:sym typeface="Times New Roman"/>
              </a:rPr>
              <a:t>, S., &amp; El Saddik, A. (2018). Sentiment identification in football-specific tweets. IEEE Access, 6, 78609-78621. </a:t>
            </a:r>
            <a:endParaRPr sz="1800" dirty="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600"/>
              <a:buNone/>
            </a:pPr>
            <a:r>
              <a:rPr lang="en-US" sz="1800" dirty="0">
                <a:latin typeface="Times New Roman"/>
                <a:ea typeface="Times New Roman"/>
                <a:cs typeface="Times New Roman"/>
                <a:sym typeface="Times New Roman"/>
              </a:rPr>
              <a:t>[6] </a:t>
            </a:r>
            <a:r>
              <a:rPr lang="en-US" sz="1800" dirty="0" err="1">
                <a:latin typeface="Times New Roman"/>
                <a:ea typeface="Times New Roman"/>
                <a:cs typeface="Times New Roman"/>
                <a:sym typeface="Times New Roman"/>
              </a:rPr>
              <a:t>Mahtab</a:t>
            </a:r>
            <a:r>
              <a:rPr lang="en-US" sz="1800" dirty="0">
                <a:latin typeface="Times New Roman"/>
                <a:ea typeface="Times New Roman"/>
                <a:cs typeface="Times New Roman"/>
                <a:sym typeface="Times New Roman"/>
              </a:rPr>
              <a:t>, S. A., Islam, N., &amp; </a:t>
            </a:r>
            <a:r>
              <a:rPr lang="en-US" sz="1800" dirty="0" err="1">
                <a:latin typeface="Times New Roman"/>
                <a:ea typeface="Times New Roman"/>
                <a:cs typeface="Times New Roman"/>
                <a:sym typeface="Times New Roman"/>
              </a:rPr>
              <a:t>Rahaman</a:t>
            </a:r>
            <a:r>
              <a:rPr lang="en-US" sz="1800" dirty="0">
                <a:latin typeface="Times New Roman"/>
                <a:ea typeface="Times New Roman"/>
                <a:cs typeface="Times New Roman"/>
                <a:sym typeface="Times New Roman"/>
              </a:rPr>
              <a:t>, M. M. (2018, September). Sentiment analysis on </a:t>
            </a:r>
            <a:r>
              <a:rPr lang="en-US" sz="1800" dirty="0" err="1">
                <a:latin typeface="Times New Roman"/>
                <a:ea typeface="Times New Roman"/>
                <a:cs typeface="Times New Roman"/>
                <a:sym typeface="Times New Roman"/>
              </a:rPr>
              <a:t>bangladesh</a:t>
            </a:r>
            <a:r>
              <a:rPr lang="en-US" sz="1800" dirty="0">
                <a:latin typeface="Times New Roman"/>
                <a:ea typeface="Times New Roman"/>
                <a:cs typeface="Times New Roman"/>
                <a:sym typeface="Times New Roman"/>
              </a:rPr>
              <a:t> cricket with support vector machine. In 2018 international conference on Bangla speech and language processing (ICBSLP) (pp. 1-4). IEEE</a:t>
            </a:r>
            <a:endParaRPr sz="1800" dirty="0"/>
          </a:p>
        </p:txBody>
      </p:sp>
      <p:sp>
        <p:nvSpPr>
          <p:cNvPr id="334" name="Google Shape;33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sz="1800" b="1" dirty="0">
                <a:solidFill>
                  <a:srgbClr val="171616"/>
                </a:solidFill>
                <a:latin typeface="Times New Roman"/>
                <a:ea typeface="Times New Roman"/>
                <a:cs typeface="Times New Roman"/>
                <a:sym typeface="Times New Roman"/>
              </a:rPr>
              <a:t>13</a:t>
            </a:r>
            <a:endParaRPr sz="1800" b="1" dirty="0">
              <a:solidFill>
                <a:srgbClr val="171616"/>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4400"/>
              <a:buNone/>
            </a:pPr>
            <a:endParaRPr sz="4400" b="1">
              <a:latin typeface="Times New Roman"/>
              <a:ea typeface="Times New Roman"/>
              <a:cs typeface="Times New Roman"/>
              <a:sym typeface="Times New Roman"/>
            </a:endParaRPr>
          </a:p>
          <a:p>
            <a:pPr marL="0" lvl="0" indent="0" algn="ctr" rtl="0">
              <a:lnSpc>
                <a:spcPct val="90000"/>
              </a:lnSpc>
              <a:spcBef>
                <a:spcPts val="1000"/>
              </a:spcBef>
              <a:spcAft>
                <a:spcPts val="0"/>
              </a:spcAft>
              <a:buClr>
                <a:schemeClr val="dk1"/>
              </a:buClr>
              <a:buSzPts val="4400"/>
              <a:buNone/>
            </a:pPr>
            <a:endParaRPr sz="4400" b="1">
              <a:latin typeface="Times New Roman"/>
              <a:ea typeface="Times New Roman"/>
              <a:cs typeface="Times New Roman"/>
              <a:sym typeface="Times New Roman"/>
            </a:endParaRPr>
          </a:p>
          <a:p>
            <a:pPr marL="0" lvl="0" indent="0" algn="ctr" rtl="0">
              <a:lnSpc>
                <a:spcPct val="90000"/>
              </a:lnSpc>
              <a:spcBef>
                <a:spcPts val="1000"/>
              </a:spcBef>
              <a:spcAft>
                <a:spcPts val="0"/>
              </a:spcAft>
              <a:buClr>
                <a:schemeClr val="dk1"/>
              </a:buClr>
              <a:buSzPts val="4800"/>
              <a:buNone/>
            </a:pPr>
            <a:r>
              <a:rPr lang="en-US" sz="4800" b="1">
                <a:latin typeface="Times New Roman"/>
                <a:ea typeface="Times New Roman"/>
                <a:cs typeface="Times New Roman"/>
                <a:sym typeface="Times New Roman"/>
              </a:rPr>
              <a:t>Thank You</a:t>
            </a:r>
            <a:endParaRPr sz="4800"/>
          </a:p>
        </p:txBody>
      </p:sp>
      <p:sp>
        <p:nvSpPr>
          <p:cNvPr id="366" name="Google Shape;366;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sz="1800" b="1" dirty="0">
                <a:solidFill>
                  <a:srgbClr val="171616"/>
                </a:solidFill>
                <a:latin typeface="Times New Roman"/>
                <a:ea typeface="Times New Roman"/>
                <a:cs typeface="Times New Roman"/>
                <a:sym typeface="Times New Roman"/>
              </a:rPr>
              <a:t>14</a:t>
            </a:r>
            <a:endParaRPr sz="1800" b="1" dirty="0">
              <a:solidFill>
                <a:srgbClr val="171616"/>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2820</TotalTime>
  <Words>1553</Words>
  <Application>Microsoft Office PowerPoint</Application>
  <PresentationFormat>Widescreen</PresentationFormat>
  <Paragraphs>235</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Noto Sans Symbols</vt:lpstr>
      <vt:lpstr>Times New Roman</vt:lpstr>
      <vt:lpstr>Office Theme</vt:lpstr>
      <vt:lpstr>Sports Sentiment Analysis using Machine Learning and Deep Learning techniques for Bangla Text</vt:lpstr>
      <vt:lpstr>Contents</vt:lpstr>
      <vt:lpstr>Introduction</vt:lpstr>
      <vt:lpstr>Motivation</vt:lpstr>
      <vt:lpstr>Problem Statement</vt:lpstr>
      <vt:lpstr>Objectives</vt:lpstr>
      <vt:lpstr>Literature Review</vt:lpstr>
      <vt:lpstr>Literature Review</vt:lpstr>
      <vt:lpstr>Literature Review</vt:lpstr>
      <vt:lpstr>System Requirements</vt:lpstr>
      <vt:lpstr>Proposed Methodology</vt:lpstr>
      <vt:lpstr>Dataset</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Bangla Sports Sentiment Analysis using Machine Learning and Deep Learning techniques</dc:title>
  <dc:creator>Kaiser</dc:creator>
  <cp:lastModifiedBy>shahidullah kaiser</cp:lastModifiedBy>
  <cp:revision>36</cp:revision>
  <dcterms:created xsi:type="dcterms:W3CDTF">2024-09-30T12:48:23Z</dcterms:created>
  <dcterms:modified xsi:type="dcterms:W3CDTF">2026-01-31T08:04:54Z</dcterms:modified>
</cp:coreProperties>
</file>